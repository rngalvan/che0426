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E2E4-9541-4561-99C2-880038903BA6}"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A620D-A24E-4774-90EC-CFED63C3A5A2}" type="slidenum">
              <a:rPr lang="en-US" smtClean="0"/>
              <a:t>‹#›</a:t>
            </a:fld>
            <a:endParaRPr lang="en-US"/>
          </a:p>
        </p:txBody>
      </p:sp>
    </p:spTree>
    <p:extLst>
      <p:ext uri="{BB962C8B-B14F-4D97-AF65-F5344CB8AC3E}">
        <p14:creationId xmlns:p14="http://schemas.microsoft.com/office/powerpoint/2010/main" val="3106338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00BD60-DE82-42B7-A227-1BA8D9F46A3C}" type="datetime1">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5B158-82B0-4C87-A3EC-7455924DF16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896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33691-226E-4761-9DC1-0C85A1F93DE8}" type="datetime1">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3039156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410F93-DFF2-4984-B129-3074FA6608A8}" type="datetime1">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5B158-82B0-4C87-A3EC-7455924DF16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121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BAB944-B716-4069-81A2-755E7D48B035}" type="datetime1">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49312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C4520C-8EA3-4DF5-A67B-873015B2C78C}" type="datetime1">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1042244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159016-BA27-49D7-A680-9E8569CFEA49}" type="datetime1">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821396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A2CD90C-7511-4EB6-857F-51CFEDAA6594}" type="datetime1">
              <a:rPr lang="en-US" smtClean="0"/>
              <a:t>1/13/2026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2804752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C1757B5-F8BC-4D94-986C-F2843CFFB04C}" type="datetime1">
              <a:rPr lang="en-US" smtClean="0"/>
              <a:t>1/13/2026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FD5B158-82B0-4C87-A3EC-7455924DF160}" type="slidenum">
              <a:rPr lang="en-US" smtClean="0"/>
              <a:t>‹#›</a:t>
            </a:fld>
            <a:endParaRPr lang="en-US"/>
          </a:p>
        </p:txBody>
      </p:sp>
    </p:spTree>
    <p:extLst>
      <p:ext uri="{BB962C8B-B14F-4D97-AF65-F5344CB8AC3E}">
        <p14:creationId xmlns:p14="http://schemas.microsoft.com/office/powerpoint/2010/main" val="15550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DABEC2-2086-4FC0-9E4F-FA4EA956D67C}" type="datetime1">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1725672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8A4E39-CAFE-4525-8847-360609FDF836}" type="datetime1">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1203878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8C414F-CBC5-45F5-B451-786D8D4748F7}" type="datetime1">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5B158-82B0-4C87-A3EC-7455924DF160}" type="slidenum">
              <a:rPr lang="en-US" smtClean="0"/>
              <a:t>‹#›</a:t>
            </a:fld>
            <a:endParaRPr lang="en-US"/>
          </a:p>
        </p:txBody>
      </p:sp>
    </p:spTree>
    <p:extLst>
      <p:ext uri="{BB962C8B-B14F-4D97-AF65-F5344CB8AC3E}">
        <p14:creationId xmlns:p14="http://schemas.microsoft.com/office/powerpoint/2010/main" val="1194379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8309B05-B9B9-47A5-AE93-41F2C0B44968}" type="datetime1">
              <a:rPr lang="en-US" smtClean="0"/>
              <a:t>1/13/2026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FD5B158-82B0-4C87-A3EC-7455924DF16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303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s://colab.research.google.com/drive/1YcFnrEFjGIefFn9C8MHTS7PWEMMql11g?usp=sharing" TargetMode="Externa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emf"/><Relationship Id="rId4" Type="http://schemas.openxmlformats.org/officeDocument/2006/relationships/oleObject" Target="../embeddings/oleObject5.bin"/><Relationship Id="rId9"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A3A3-5AEA-8D71-5AE0-6B79F51303F2}"/>
              </a:ext>
            </a:extLst>
          </p:cNvPr>
          <p:cNvSpPr>
            <a:spLocks noGrp="1"/>
          </p:cNvSpPr>
          <p:nvPr>
            <p:ph type="ctrTitle"/>
          </p:nvPr>
        </p:nvSpPr>
        <p:spPr/>
        <p:txBody>
          <a:bodyPr/>
          <a:lstStyle/>
          <a:p>
            <a:r>
              <a:rPr lang="en-US" dirty="0"/>
              <a:t>CHE 0426 </a:t>
            </a:r>
            <a:br>
              <a:rPr lang="en-US" dirty="0"/>
            </a:br>
            <a:r>
              <a:rPr lang="en-US" dirty="0"/>
              <a:t>Introduction to Optimization</a:t>
            </a:r>
          </a:p>
        </p:txBody>
      </p:sp>
      <p:sp>
        <p:nvSpPr>
          <p:cNvPr id="3" name="Subtitle 2">
            <a:extLst>
              <a:ext uri="{FF2B5EF4-FFF2-40B4-BE49-F238E27FC236}">
                <a16:creationId xmlns:a16="http://schemas.microsoft.com/office/drawing/2014/main" id="{62F764EE-F574-9DDC-CA49-2B034F08B10C}"/>
              </a:ext>
            </a:extLst>
          </p:cNvPr>
          <p:cNvSpPr>
            <a:spLocks noGrp="1"/>
          </p:cNvSpPr>
          <p:nvPr>
            <p:ph type="subTitle" idx="1"/>
          </p:nvPr>
        </p:nvSpPr>
        <p:spPr/>
        <p:txBody>
          <a:bodyPr/>
          <a:lstStyle/>
          <a:p>
            <a:r>
              <a:rPr lang="en-US" dirty="0"/>
              <a:t>Engr. Rommel N. Galvan</a:t>
            </a:r>
          </a:p>
        </p:txBody>
      </p:sp>
      <p:sp>
        <p:nvSpPr>
          <p:cNvPr id="4" name="Slide Number Placeholder 3">
            <a:extLst>
              <a:ext uri="{FF2B5EF4-FFF2-40B4-BE49-F238E27FC236}">
                <a16:creationId xmlns:a16="http://schemas.microsoft.com/office/drawing/2014/main" id="{C764ECF8-C862-AFB5-ABE6-B121020D8116}"/>
              </a:ext>
            </a:extLst>
          </p:cNvPr>
          <p:cNvSpPr>
            <a:spLocks noGrp="1"/>
          </p:cNvSpPr>
          <p:nvPr>
            <p:ph type="sldNum" sz="quarter" idx="12"/>
          </p:nvPr>
        </p:nvSpPr>
        <p:spPr/>
        <p:txBody>
          <a:bodyPr/>
          <a:lstStyle/>
          <a:p>
            <a:fld id="{5FD5B158-82B0-4C87-A3EC-7455924DF160}" type="slidenum">
              <a:rPr lang="en-US" smtClean="0"/>
              <a:t>1</a:t>
            </a:fld>
            <a:endParaRPr lang="en-US"/>
          </a:p>
        </p:txBody>
      </p:sp>
    </p:spTree>
    <p:extLst>
      <p:ext uri="{BB962C8B-B14F-4D97-AF65-F5344CB8AC3E}">
        <p14:creationId xmlns:p14="http://schemas.microsoft.com/office/powerpoint/2010/main" val="126611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10501-B6F3-269C-F0D6-227EBC22B910}"/>
              </a:ext>
            </a:extLst>
          </p:cNvPr>
          <p:cNvSpPr>
            <a:spLocks noGrp="1"/>
          </p:cNvSpPr>
          <p:nvPr>
            <p:ph type="title"/>
          </p:nvPr>
        </p:nvSpPr>
        <p:spPr/>
        <p:txBody>
          <a:bodyPr/>
          <a:lstStyle/>
          <a:p>
            <a:r>
              <a:rPr lang="en-US" dirty="0"/>
              <a:t>Why optimized? </a:t>
            </a:r>
          </a:p>
        </p:txBody>
      </p:sp>
      <p:sp>
        <p:nvSpPr>
          <p:cNvPr id="3" name="Content Placeholder 2">
            <a:extLst>
              <a:ext uri="{FF2B5EF4-FFF2-40B4-BE49-F238E27FC236}">
                <a16:creationId xmlns:a16="http://schemas.microsoft.com/office/drawing/2014/main" id="{35B7470B-7FF9-10AC-08E9-374FDDAB7A7D}"/>
              </a:ext>
            </a:extLst>
          </p:cNvPr>
          <p:cNvSpPr>
            <a:spLocks noGrp="1"/>
          </p:cNvSpPr>
          <p:nvPr>
            <p:ph idx="1"/>
          </p:nvPr>
        </p:nvSpPr>
        <p:spPr/>
        <p:txBody>
          <a:bodyPr>
            <a:normAutofit/>
          </a:bodyPr>
          <a:lstStyle/>
          <a:p>
            <a:pPr>
              <a:buFont typeface="Wingdings" panose="05000000000000000000" pitchFamily="2" charset="2"/>
              <a:buChar char="q"/>
            </a:pPr>
            <a:r>
              <a:rPr lang="en-US" sz="2800" dirty="0"/>
              <a:t>Improve the process to realize maximum system potential;</a:t>
            </a:r>
          </a:p>
          <a:p>
            <a:pPr>
              <a:buFont typeface="Wingdings" panose="05000000000000000000" pitchFamily="2" charset="2"/>
              <a:buChar char="q"/>
            </a:pPr>
            <a:r>
              <a:rPr lang="en-US" sz="2800" dirty="0"/>
              <a:t>Attain improved designs; maximize profits; reduce cost of productions.</a:t>
            </a:r>
          </a:p>
        </p:txBody>
      </p:sp>
      <p:sp>
        <p:nvSpPr>
          <p:cNvPr id="4" name="Slide Number Placeholder 3">
            <a:extLst>
              <a:ext uri="{FF2B5EF4-FFF2-40B4-BE49-F238E27FC236}">
                <a16:creationId xmlns:a16="http://schemas.microsoft.com/office/drawing/2014/main" id="{FA2EFBD1-17AC-97C0-E0EA-6D4DEF9A7363}"/>
              </a:ext>
            </a:extLst>
          </p:cNvPr>
          <p:cNvSpPr>
            <a:spLocks noGrp="1"/>
          </p:cNvSpPr>
          <p:nvPr>
            <p:ph type="sldNum" sz="quarter" idx="12"/>
          </p:nvPr>
        </p:nvSpPr>
        <p:spPr/>
        <p:txBody>
          <a:bodyPr/>
          <a:lstStyle/>
          <a:p>
            <a:fld id="{5FD5B158-82B0-4C87-A3EC-7455924DF160}" type="slidenum">
              <a:rPr lang="en-US" smtClean="0"/>
              <a:t>2</a:t>
            </a:fld>
            <a:endParaRPr lang="en-US"/>
          </a:p>
        </p:txBody>
      </p:sp>
    </p:spTree>
    <p:extLst>
      <p:ext uri="{BB962C8B-B14F-4D97-AF65-F5344CB8AC3E}">
        <p14:creationId xmlns:p14="http://schemas.microsoft.com/office/powerpoint/2010/main" val="35736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B8D0-D8EF-912F-A915-242BCFD595A2}"/>
              </a:ext>
            </a:extLst>
          </p:cNvPr>
          <p:cNvSpPr>
            <a:spLocks noGrp="1"/>
          </p:cNvSpPr>
          <p:nvPr>
            <p:ph type="title"/>
          </p:nvPr>
        </p:nvSpPr>
        <p:spPr/>
        <p:txBody>
          <a:bodyPr/>
          <a:lstStyle/>
          <a:p>
            <a:r>
              <a:rPr lang="en-US" dirty="0"/>
              <a:t>Essential features of optimization problem </a:t>
            </a:r>
          </a:p>
        </p:txBody>
      </p:sp>
      <p:sp>
        <p:nvSpPr>
          <p:cNvPr id="3" name="Content Placeholder 2">
            <a:extLst>
              <a:ext uri="{FF2B5EF4-FFF2-40B4-BE49-F238E27FC236}">
                <a16:creationId xmlns:a16="http://schemas.microsoft.com/office/drawing/2014/main" id="{98A6B6AC-CD28-8AA4-6198-0661D1DB0E96}"/>
              </a:ext>
            </a:extLst>
          </p:cNvPr>
          <p:cNvSpPr>
            <a:spLocks noGrp="1"/>
          </p:cNvSpPr>
          <p:nvPr>
            <p:ph idx="1"/>
          </p:nvPr>
        </p:nvSpPr>
        <p:spPr/>
        <p:txBody>
          <a:bodyPr>
            <a:normAutofit lnSpcReduction="10000"/>
          </a:bodyPr>
          <a:lstStyle/>
          <a:p>
            <a:pPr>
              <a:buFont typeface="Wingdings" panose="05000000000000000000" pitchFamily="2" charset="2"/>
              <a:buChar char="q"/>
            </a:pPr>
            <a:r>
              <a:rPr lang="en-US" sz="2800" dirty="0"/>
              <a:t> An </a:t>
            </a:r>
            <a:r>
              <a:rPr lang="en-US" sz="2800" b="1" dirty="0"/>
              <a:t>objective function </a:t>
            </a:r>
            <a:r>
              <a:rPr lang="en-US" sz="2800" dirty="0"/>
              <a:t>is defined which needs to be either maximized or minimized.  The objective function may be technical or economic. Examples of economic objective are profits, costs of production etc.. Technical objective may be the yield from the reactor that needs to be maximized, minimum size of an equipment etc..  Technical objectives are ultimately related to economics.</a:t>
            </a:r>
          </a:p>
          <a:p>
            <a:pPr>
              <a:buFont typeface="Wingdings" panose="05000000000000000000" pitchFamily="2" charset="2"/>
              <a:buChar char="q"/>
            </a:pPr>
            <a:r>
              <a:rPr lang="en-US" sz="2800" b="1" dirty="0"/>
              <a:t>Underdetermined system</a:t>
            </a:r>
            <a:r>
              <a:rPr lang="en-US" sz="2800" dirty="0"/>
              <a:t>: If all the design variables are fixed. There is no optimization. Thus one or more variables is relaxed and the system becomes an underdetermined system which has at least in principle infinite number of solutions.</a:t>
            </a:r>
          </a:p>
          <a:p>
            <a:pPr marL="0" indent="0">
              <a:buNone/>
            </a:pPr>
            <a:endParaRPr lang="en-US" dirty="0"/>
          </a:p>
        </p:txBody>
      </p:sp>
      <p:sp>
        <p:nvSpPr>
          <p:cNvPr id="4" name="Slide Number Placeholder 3">
            <a:extLst>
              <a:ext uri="{FF2B5EF4-FFF2-40B4-BE49-F238E27FC236}">
                <a16:creationId xmlns:a16="http://schemas.microsoft.com/office/drawing/2014/main" id="{4836C80D-A798-4D89-E600-1734200211AB}"/>
              </a:ext>
            </a:extLst>
          </p:cNvPr>
          <p:cNvSpPr>
            <a:spLocks noGrp="1"/>
          </p:cNvSpPr>
          <p:nvPr>
            <p:ph type="sldNum" sz="quarter" idx="12"/>
          </p:nvPr>
        </p:nvSpPr>
        <p:spPr/>
        <p:txBody>
          <a:bodyPr/>
          <a:lstStyle/>
          <a:p>
            <a:fld id="{5FD5B158-82B0-4C87-A3EC-7455924DF160}" type="slidenum">
              <a:rPr lang="en-US" smtClean="0"/>
              <a:t>3</a:t>
            </a:fld>
            <a:endParaRPr lang="en-US"/>
          </a:p>
        </p:txBody>
      </p:sp>
    </p:spTree>
    <p:extLst>
      <p:ext uri="{BB962C8B-B14F-4D97-AF65-F5344CB8AC3E}">
        <p14:creationId xmlns:p14="http://schemas.microsoft.com/office/powerpoint/2010/main" val="1792422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B572-7495-567D-FB47-B64EBCB125EB}"/>
              </a:ext>
            </a:extLst>
          </p:cNvPr>
          <p:cNvSpPr>
            <a:spLocks noGrp="1"/>
          </p:cNvSpPr>
          <p:nvPr>
            <p:ph type="title"/>
          </p:nvPr>
        </p:nvSpPr>
        <p:spPr/>
        <p:txBody>
          <a:bodyPr/>
          <a:lstStyle/>
          <a:p>
            <a:r>
              <a:rPr lang="en-US" dirty="0"/>
              <a:t>Essential features of optimization problem- Continued</a:t>
            </a:r>
          </a:p>
        </p:txBody>
      </p:sp>
      <p:sp>
        <p:nvSpPr>
          <p:cNvPr id="3" name="Content Placeholder 2">
            <a:extLst>
              <a:ext uri="{FF2B5EF4-FFF2-40B4-BE49-F238E27FC236}">
                <a16:creationId xmlns:a16="http://schemas.microsoft.com/office/drawing/2014/main" id="{665E0062-B71A-C5BD-DEDE-79ABF319563D}"/>
              </a:ext>
            </a:extLst>
          </p:cNvPr>
          <p:cNvSpPr>
            <a:spLocks noGrp="1"/>
          </p:cNvSpPr>
          <p:nvPr>
            <p:ph idx="1"/>
          </p:nvPr>
        </p:nvSpPr>
        <p:spPr/>
        <p:txBody>
          <a:bodyPr/>
          <a:lstStyle/>
          <a:p>
            <a:pPr>
              <a:buFont typeface="Wingdings" panose="05000000000000000000" pitchFamily="2" charset="2"/>
              <a:buChar char="q"/>
            </a:pPr>
            <a:r>
              <a:rPr lang="en-US" sz="2800" b="1" dirty="0"/>
              <a:t>Competing influences</a:t>
            </a:r>
            <a:r>
              <a:rPr lang="en-US" sz="2800" dirty="0"/>
              <a:t>: In most of the optimization problems, there would be some set of variables which has opposite influence on the objective function.  Such competing influences require some balancing and hence result in typical optimization problems.</a:t>
            </a:r>
          </a:p>
          <a:p>
            <a:pPr>
              <a:buFont typeface="Wingdings" panose="05000000000000000000" pitchFamily="2" charset="2"/>
              <a:buChar char="q"/>
            </a:pPr>
            <a:r>
              <a:rPr lang="en-US" sz="2800" dirty="0"/>
              <a:t> </a:t>
            </a:r>
            <a:r>
              <a:rPr lang="en-US" sz="2800" b="1" dirty="0"/>
              <a:t>Restrictions</a:t>
            </a:r>
            <a:r>
              <a:rPr lang="en-US" sz="2800" dirty="0"/>
              <a:t>: Usually, the optimization is done keeping certain restrictions or constraints.  Thus, the amount of row material may be fixed or there may be other design restrictions.  Hence in most problems the absolute minimum or maximum is not needed but a restricted optimum i.e. the best possible in the given condition</a:t>
            </a:r>
          </a:p>
          <a:p>
            <a:pPr marL="0" indent="0">
              <a:buNone/>
            </a:pPr>
            <a:endParaRPr lang="en-US" dirty="0"/>
          </a:p>
        </p:txBody>
      </p:sp>
      <p:sp>
        <p:nvSpPr>
          <p:cNvPr id="4" name="Slide Number Placeholder 3">
            <a:extLst>
              <a:ext uri="{FF2B5EF4-FFF2-40B4-BE49-F238E27FC236}">
                <a16:creationId xmlns:a16="http://schemas.microsoft.com/office/drawing/2014/main" id="{93F90FA3-240E-BEDD-11CB-2C0FD9EAA21F}"/>
              </a:ext>
            </a:extLst>
          </p:cNvPr>
          <p:cNvSpPr>
            <a:spLocks noGrp="1"/>
          </p:cNvSpPr>
          <p:nvPr>
            <p:ph type="sldNum" sz="quarter" idx="12"/>
          </p:nvPr>
        </p:nvSpPr>
        <p:spPr/>
        <p:txBody>
          <a:bodyPr/>
          <a:lstStyle/>
          <a:p>
            <a:fld id="{5FD5B158-82B0-4C87-A3EC-7455924DF160}" type="slidenum">
              <a:rPr lang="en-US" smtClean="0"/>
              <a:t>4</a:t>
            </a:fld>
            <a:endParaRPr lang="en-US"/>
          </a:p>
        </p:txBody>
      </p:sp>
    </p:spTree>
    <p:extLst>
      <p:ext uri="{BB962C8B-B14F-4D97-AF65-F5344CB8AC3E}">
        <p14:creationId xmlns:p14="http://schemas.microsoft.com/office/powerpoint/2010/main" val="904795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DBD9D-0FE7-6714-D6FF-01C281AAC128}"/>
              </a:ext>
            </a:extLst>
          </p:cNvPr>
          <p:cNvSpPr>
            <a:spLocks noGrp="1"/>
          </p:cNvSpPr>
          <p:nvPr>
            <p:ph type="title"/>
          </p:nvPr>
        </p:nvSpPr>
        <p:spPr/>
        <p:txBody>
          <a:bodyPr/>
          <a:lstStyle/>
          <a:p>
            <a:r>
              <a:rPr lang="en-US" dirty="0"/>
              <a:t>Problem Statements </a:t>
            </a:r>
          </a:p>
        </p:txBody>
      </p:sp>
      <p:sp>
        <p:nvSpPr>
          <p:cNvPr id="3" name="Content Placeholder 2">
            <a:extLst>
              <a:ext uri="{FF2B5EF4-FFF2-40B4-BE49-F238E27FC236}">
                <a16:creationId xmlns:a16="http://schemas.microsoft.com/office/drawing/2014/main" id="{FA66BCE9-89CF-BBE6-A6E6-FD91C392DE2D}"/>
              </a:ext>
            </a:extLst>
          </p:cNvPr>
          <p:cNvSpPr>
            <a:spLocks noGrp="1"/>
          </p:cNvSpPr>
          <p:nvPr>
            <p:ph idx="1"/>
          </p:nvPr>
        </p:nvSpPr>
        <p:spPr/>
        <p:txBody>
          <a:bodyPr>
            <a:normAutofit/>
          </a:bodyPr>
          <a:lstStyle/>
          <a:p>
            <a:r>
              <a:rPr lang="en-US" sz="2400" dirty="0"/>
              <a:t>Given a design vector </a:t>
            </a:r>
          </a:p>
          <a:p>
            <a:r>
              <a:rPr lang="en-US" altLang="zh-TW" sz="2400" dirty="0"/>
              <a:t>An objective function  </a:t>
            </a:r>
            <a:r>
              <a:rPr lang="en-US" altLang="zh-TW" sz="2400" i="1" dirty="0">
                <a:latin typeface="Times New Roman" panose="02020603050405020304" pitchFamily="18" charset="0"/>
                <a:cs typeface="Times New Roman" panose="02020603050405020304" pitchFamily="18" charset="0"/>
              </a:rPr>
              <a:t>f(</a:t>
            </a:r>
            <a:r>
              <a:rPr lang="en-US" altLang="zh-TW" sz="2400" b="1" i="1" dirty="0">
                <a:latin typeface="Times New Roman" panose="02020603050405020304" pitchFamily="18" charset="0"/>
                <a:cs typeface="Times New Roman" panose="02020603050405020304" pitchFamily="18" charset="0"/>
              </a:rPr>
              <a:t>x</a:t>
            </a:r>
            <a:r>
              <a:rPr lang="en-US" altLang="zh-TW" sz="2400" i="1" dirty="0">
                <a:latin typeface="Times New Roman" panose="02020603050405020304" pitchFamily="18" charset="0"/>
                <a:cs typeface="Times New Roman" panose="02020603050405020304" pitchFamily="18" charset="0"/>
              </a:rPr>
              <a:t>)</a:t>
            </a:r>
          </a:p>
          <a:p>
            <a:r>
              <a:rPr lang="en-US" altLang="zh-TW" sz="2400" dirty="0"/>
              <a:t>A set of equality constraints </a:t>
            </a:r>
            <a:r>
              <a:rPr lang="en-US" altLang="zh-TW" sz="2400" b="1" i="1" dirty="0">
                <a:latin typeface="Times New Roman" panose="02020603050405020304" pitchFamily="18" charset="0"/>
                <a:cs typeface="Times New Roman" panose="02020603050405020304" pitchFamily="18" charset="0"/>
              </a:rPr>
              <a:t>g</a:t>
            </a:r>
            <a:r>
              <a:rPr lang="en-US" altLang="zh-TW" sz="2400" i="1" dirty="0">
                <a:latin typeface="Times New Roman" panose="02020603050405020304" pitchFamily="18" charset="0"/>
                <a:cs typeface="Times New Roman" panose="02020603050405020304" pitchFamily="18" charset="0"/>
              </a:rPr>
              <a:t>(x)=0 </a:t>
            </a:r>
          </a:p>
          <a:p>
            <a:r>
              <a:rPr lang="en-US" altLang="zh-TW" sz="2400" dirty="0"/>
              <a:t>A set of inequality constraints, </a:t>
            </a:r>
            <a:r>
              <a:rPr lang="en-US" altLang="zh-TW" sz="2400" b="1" i="1" dirty="0">
                <a:latin typeface="Times New Roman" panose="02020603050405020304" pitchFamily="18" charset="0"/>
                <a:cs typeface="Times New Roman" panose="02020603050405020304" pitchFamily="18" charset="0"/>
              </a:rPr>
              <a:t>h</a:t>
            </a:r>
            <a:r>
              <a:rPr lang="en-US" altLang="zh-TW" sz="2400" i="1" dirty="0">
                <a:latin typeface="Times New Roman" panose="02020603050405020304" pitchFamily="18" charset="0"/>
                <a:cs typeface="Times New Roman" panose="02020603050405020304" pitchFamily="18" charset="0"/>
              </a:rPr>
              <a:t>(x)</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dirty="0">
                <a:latin typeface="Times New Roman" panose="02020603050405020304" pitchFamily="18" charset="0"/>
                <a:cs typeface="Times New Roman" panose="02020603050405020304" pitchFamily="18" charset="0"/>
              </a:rPr>
              <a:t>0</a:t>
            </a:r>
            <a:r>
              <a:rPr lang="en-US" altLang="zh-TW" sz="2400" dirty="0"/>
              <a:t> </a:t>
            </a:r>
          </a:p>
          <a:p>
            <a:r>
              <a:rPr lang="en-US" altLang="zh-TW" sz="2400" dirty="0"/>
              <a:t>The general problem formulation:  </a:t>
            </a:r>
          </a:p>
          <a:p>
            <a:endParaRPr lang="en-US" altLang="zh-TW" sz="2400" dirty="0"/>
          </a:p>
          <a:p>
            <a:endParaRPr lang="en-US" altLang="zh-TW" sz="2400" dirty="0"/>
          </a:p>
        </p:txBody>
      </p:sp>
      <p:sp>
        <p:nvSpPr>
          <p:cNvPr id="4" name="Slide Number Placeholder 3">
            <a:extLst>
              <a:ext uri="{FF2B5EF4-FFF2-40B4-BE49-F238E27FC236}">
                <a16:creationId xmlns:a16="http://schemas.microsoft.com/office/drawing/2014/main" id="{CD660376-0EE9-1B9B-D9D5-DFD03FD2518F}"/>
              </a:ext>
            </a:extLst>
          </p:cNvPr>
          <p:cNvSpPr>
            <a:spLocks noGrp="1"/>
          </p:cNvSpPr>
          <p:nvPr>
            <p:ph type="sldNum" sz="quarter" idx="12"/>
          </p:nvPr>
        </p:nvSpPr>
        <p:spPr/>
        <p:txBody>
          <a:bodyPr/>
          <a:lstStyle/>
          <a:p>
            <a:fld id="{5FD5B158-82B0-4C87-A3EC-7455924DF160}" type="slidenum">
              <a:rPr lang="en-US" smtClean="0"/>
              <a:t>5</a:t>
            </a:fld>
            <a:endParaRPr lang="en-US"/>
          </a:p>
        </p:txBody>
      </p:sp>
      <p:graphicFrame>
        <p:nvGraphicFramePr>
          <p:cNvPr id="5" name="Object 4">
            <a:extLst>
              <a:ext uri="{FF2B5EF4-FFF2-40B4-BE49-F238E27FC236}">
                <a16:creationId xmlns:a16="http://schemas.microsoft.com/office/drawing/2014/main" id="{FB7256D6-7063-B603-C835-F20018410DCF}"/>
              </a:ext>
            </a:extLst>
          </p:cNvPr>
          <p:cNvGraphicFramePr>
            <a:graphicFrameLocks noChangeAspect="1"/>
          </p:cNvGraphicFramePr>
          <p:nvPr>
            <p:extLst>
              <p:ext uri="{D42A27DB-BD31-4B8C-83A1-F6EECF244321}">
                <p14:modId xmlns:p14="http://schemas.microsoft.com/office/powerpoint/2010/main" val="4090594249"/>
              </p:ext>
            </p:extLst>
          </p:nvPr>
        </p:nvGraphicFramePr>
        <p:xfrm>
          <a:off x="4215530" y="4445531"/>
          <a:ext cx="1773237" cy="1531937"/>
        </p:xfrm>
        <a:graphic>
          <a:graphicData uri="http://schemas.openxmlformats.org/presentationml/2006/ole">
            <mc:AlternateContent xmlns:mc="http://schemas.openxmlformats.org/markup-compatibility/2006">
              <mc:Choice xmlns:v="urn:schemas-microsoft-com:vml" Requires="v">
                <p:oleObj name="Equation" r:id="rId2" imgW="1772539" imgH="1531833" progId="Equation.DSMT4">
                  <p:embed/>
                </p:oleObj>
              </mc:Choice>
              <mc:Fallback>
                <p:oleObj name="Equation" r:id="rId2" imgW="1772539" imgH="1531833" progId="Equation.DSMT4">
                  <p:embed/>
                  <p:pic>
                    <p:nvPicPr>
                      <p:cNvPr id="0" name=""/>
                      <p:cNvPicPr/>
                      <p:nvPr/>
                    </p:nvPicPr>
                    <p:blipFill>
                      <a:blip r:embed="rId3"/>
                      <a:stretch>
                        <a:fillRect/>
                      </a:stretch>
                    </p:blipFill>
                    <p:spPr>
                      <a:xfrm>
                        <a:off x="4215530" y="4445531"/>
                        <a:ext cx="1773237" cy="1531937"/>
                      </a:xfrm>
                      <a:prstGeom prst="rect">
                        <a:avLst/>
                      </a:prstGeom>
                    </p:spPr>
                  </p:pic>
                </p:oleObj>
              </mc:Fallback>
            </mc:AlternateContent>
          </a:graphicData>
        </a:graphic>
      </p:graphicFrame>
      <p:graphicFrame>
        <p:nvGraphicFramePr>
          <p:cNvPr id="6" name="Object 4">
            <a:extLst>
              <a:ext uri="{FF2B5EF4-FFF2-40B4-BE49-F238E27FC236}">
                <a16:creationId xmlns:a16="http://schemas.microsoft.com/office/drawing/2014/main" id="{311307AF-78D6-18E1-0B7C-EA1FFF961C5F}"/>
              </a:ext>
            </a:extLst>
          </p:cNvPr>
          <p:cNvGraphicFramePr>
            <a:graphicFrameLocks noChangeAspect="1"/>
          </p:cNvGraphicFramePr>
          <p:nvPr>
            <p:extLst>
              <p:ext uri="{D42A27DB-BD31-4B8C-83A1-F6EECF244321}">
                <p14:modId xmlns:p14="http://schemas.microsoft.com/office/powerpoint/2010/main" val="1112363320"/>
              </p:ext>
            </p:extLst>
          </p:nvPr>
        </p:nvGraphicFramePr>
        <p:xfrm>
          <a:off x="4681538" y="1747838"/>
          <a:ext cx="2227262" cy="557212"/>
        </p:xfrm>
        <a:graphic>
          <a:graphicData uri="http://schemas.openxmlformats.org/presentationml/2006/ole">
            <mc:AlternateContent xmlns:mc="http://schemas.openxmlformats.org/markup-compatibility/2006">
              <mc:Choice xmlns:v="urn:schemas-microsoft-com:vml" Requires="v">
                <p:oleObj name="Equation" r:id="rId4" imgW="1130040" imgH="279360" progId="Equation.DSMT4">
                  <p:embed/>
                </p:oleObj>
              </mc:Choice>
              <mc:Fallback>
                <p:oleObj name="Equation" r:id="rId4" imgW="1130040" imgH="279360" progId="Equation.DSMT4">
                  <p:embed/>
                  <p:pic>
                    <p:nvPicPr>
                      <p:cNvPr id="1026" name="Object 4">
                        <a:extLst>
                          <a:ext uri="{FF2B5EF4-FFF2-40B4-BE49-F238E27FC236}">
                            <a16:creationId xmlns:a16="http://schemas.microsoft.com/office/drawing/2014/main" id="{456C09CF-BF01-5779-E4F3-C7B73F3226EE}"/>
                          </a:ext>
                        </a:extLst>
                      </p:cNvPr>
                      <p:cNvPicPr>
                        <a:picLocks noChangeAspect="1" noChangeArrowheads="1"/>
                      </p:cNvPicPr>
                      <p:nvPr/>
                    </p:nvPicPr>
                    <p:blipFill>
                      <a:blip r:embed="rId5"/>
                      <a:srcRect/>
                      <a:stretch>
                        <a:fillRect/>
                      </a:stretch>
                    </p:blipFill>
                    <p:spPr bwMode="auto">
                      <a:xfrm>
                        <a:off x="4681538" y="1747838"/>
                        <a:ext cx="2227262" cy="557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5089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84484-9682-4F81-A648-F4511C91F5FF}"/>
              </a:ext>
            </a:extLst>
          </p:cNvPr>
          <p:cNvSpPr>
            <a:spLocks noGrp="1"/>
          </p:cNvSpPr>
          <p:nvPr>
            <p:ph type="title"/>
          </p:nvPr>
        </p:nvSpPr>
        <p:spPr/>
        <p:txBody>
          <a:bodyPr/>
          <a:lstStyle/>
          <a:p>
            <a:r>
              <a:rPr lang="en-US" dirty="0"/>
              <a:t>Examples- An Inspector Problem (Linear Programming): </a:t>
            </a:r>
          </a:p>
        </p:txBody>
      </p:sp>
      <p:sp>
        <p:nvSpPr>
          <p:cNvPr id="3" name="Content Placeholder 2">
            <a:extLst>
              <a:ext uri="{FF2B5EF4-FFF2-40B4-BE49-F238E27FC236}">
                <a16:creationId xmlns:a16="http://schemas.microsoft.com/office/drawing/2014/main" id="{8FFD3BAF-EB62-7659-B283-43C663D13F5C}"/>
              </a:ext>
            </a:extLst>
          </p:cNvPr>
          <p:cNvSpPr>
            <a:spLocks noGrp="1"/>
          </p:cNvSpPr>
          <p:nvPr>
            <p:ph idx="1"/>
          </p:nvPr>
        </p:nvSpPr>
        <p:spPr/>
        <p:txBody>
          <a:bodyPr/>
          <a:lstStyle/>
          <a:p>
            <a:r>
              <a:rPr lang="en-US" sz="2800" dirty="0"/>
              <a:t>Assume that it is desired to hire some inspectors for monitoring a production line.  A total amount of 1800 species of products are manufactured every day (8 working hours), while two grades of inspectors can be found.  Maximum, 8 grade A inspector and 10 grade B inspector are available from the job market.  Grade A inspectors can check 25 species/hour, with an accuracy of 98 percent.  Grade B inspectors can check 15 species/hour, with an accuracy of 95 percent.  The wage of a grade A inspector is $4.00/hour, and the wage of a grade B inspector is $3.00/hour.  What is the optimum policy for hiring the inspectors? </a:t>
            </a:r>
          </a:p>
          <a:p>
            <a:endParaRPr lang="en-US" dirty="0"/>
          </a:p>
        </p:txBody>
      </p:sp>
      <p:sp>
        <p:nvSpPr>
          <p:cNvPr id="4" name="Slide Number Placeholder 3">
            <a:extLst>
              <a:ext uri="{FF2B5EF4-FFF2-40B4-BE49-F238E27FC236}">
                <a16:creationId xmlns:a16="http://schemas.microsoft.com/office/drawing/2014/main" id="{B744DBEB-9FBE-7946-1903-CE9919C0FB4D}"/>
              </a:ext>
            </a:extLst>
          </p:cNvPr>
          <p:cNvSpPr>
            <a:spLocks noGrp="1"/>
          </p:cNvSpPr>
          <p:nvPr>
            <p:ph type="sldNum" sz="quarter" idx="12"/>
          </p:nvPr>
        </p:nvSpPr>
        <p:spPr/>
        <p:txBody>
          <a:bodyPr/>
          <a:lstStyle/>
          <a:p>
            <a:fld id="{5FD5B158-82B0-4C87-A3EC-7455924DF160}" type="slidenum">
              <a:rPr lang="en-US" smtClean="0"/>
              <a:t>6</a:t>
            </a:fld>
            <a:endParaRPr lang="en-US"/>
          </a:p>
        </p:txBody>
      </p:sp>
    </p:spTree>
    <p:extLst>
      <p:ext uri="{BB962C8B-B14F-4D97-AF65-F5344CB8AC3E}">
        <p14:creationId xmlns:p14="http://schemas.microsoft.com/office/powerpoint/2010/main" val="1142853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EC87-9DB5-3A01-C5A8-65516910A30E}"/>
              </a:ext>
            </a:extLst>
          </p:cNvPr>
          <p:cNvSpPr>
            <a:spLocks noGrp="1"/>
          </p:cNvSpPr>
          <p:nvPr>
            <p:ph type="title"/>
          </p:nvPr>
        </p:nvSpPr>
        <p:spPr/>
        <p:txBody>
          <a:bodyPr/>
          <a:lstStyle/>
          <a:p>
            <a:r>
              <a:rPr lang="en-US" dirty="0"/>
              <a:t>Problem Formulation</a:t>
            </a:r>
          </a:p>
        </p:txBody>
      </p:sp>
      <p:sp>
        <p:nvSpPr>
          <p:cNvPr id="3" name="Content Placeholder 2">
            <a:extLst>
              <a:ext uri="{FF2B5EF4-FFF2-40B4-BE49-F238E27FC236}">
                <a16:creationId xmlns:a16="http://schemas.microsoft.com/office/drawing/2014/main" id="{320816CD-DD79-4756-5DDA-D307F1834E15}"/>
              </a:ext>
            </a:extLst>
          </p:cNvPr>
          <p:cNvSpPr>
            <a:spLocks noGrp="1"/>
          </p:cNvSpPr>
          <p:nvPr>
            <p:ph idx="1"/>
          </p:nvPr>
        </p:nvSpPr>
        <p:spPr/>
        <p:txBody>
          <a:bodyPr/>
          <a:lstStyle/>
          <a:p>
            <a:r>
              <a:rPr lang="en-US" dirty="0"/>
              <a:t>Assume that the </a:t>
            </a:r>
            <a:r>
              <a:rPr lang="en-US" altLang="zh-TW" i="1" dirty="0"/>
              <a:t>x</a:t>
            </a:r>
            <a:r>
              <a:rPr lang="en-US" altLang="zh-TW" i="1" baseline="-25000" dirty="0"/>
              <a:t>1</a:t>
            </a:r>
            <a:r>
              <a:rPr lang="en-US" dirty="0"/>
              <a:t> grade A inspectors, </a:t>
            </a:r>
            <a:r>
              <a:rPr lang="en-US" altLang="zh-TW" i="1" dirty="0"/>
              <a:t>x</a:t>
            </a:r>
            <a:r>
              <a:rPr lang="en-US" altLang="zh-TW" i="1" baseline="-25000" dirty="0"/>
              <a:t>2</a:t>
            </a:r>
            <a:r>
              <a:rPr lang="en-US" dirty="0"/>
              <a:t> grade B inspects are hired, then</a:t>
            </a:r>
          </a:p>
          <a:p>
            <a:pPr>
              <a:buFont typeface="Wingdings" panose="05000000000000000000" pitchFamily="2" charset="2"/>
              <a:buChar char="Ø"/>
            </a:pPr>
            <a:r>
              <a:rPr lang="en-US" dirty="0"/>
              <a:t>total cost to be minimized</a:t>
            </a:r>
          </a:p>
          <a:p>
            <a:r>
              <a:rPr lang="en-US" dirty="0"/>
              <a:t>    4(8)</a:t>
            </a:r>
            <a:r>
              <a:rPr lang="en-US" altLang="zh-TW" i="1" dirty="0"/>
              <a:t>x</a:t>
            </a:r>
            <a:r>
              <a:rPr lang="en-US" altLang="zh-TW" i="1" baseline="-25000" dirty="0"/>
              <a:t>1</a:t>
            </a:r>
            <a:r>
              <a:rPr lang="en-US" dirty="0"/>
              <a:t> +3(8)</a:t>
            </a:r>
            <a:r>
              <a:rPr lang="en-US" altLang="zh-TW" i="1" dirty="0"/>
              <a:t>x</a:t>
            </a:r>
            <a:r>
              <a:rPr lang="en-US" altLang="zh-TW" i="1" baseline="-25000" dirty="0"/>
              <a:t>2</a:t>
            </a:r>
            <a:r>
              <a:rPr lang="en-US" dirty="0"/>
              <a:t> +25(8)(0.02)(2)</a:t>
            </a:r>
            <a:r>
              <a:rPr lang="en-US" altLang="zh-TW" i="1" dirty="0"/>
              <a:t>x</a:t>
            </a:r>
            <a:r>
              <a:rPr lang="en-US" altLang="zh-TW" i="1" baseline="-25000" dirty="0"/>
              <a:t>1</a:t>
            </a:r>
            <a:r>
              <a:rPr lang="en-US" dirty="0"/>
              <a:t> +15(8)(0.05)(2)</a:t>
            </a:r>
            <a:r>
              <a:rPr lang="en-US" altLang="zh-TW" i="1" dirty="0"/>
              <a:t> x</a:t>
            </a:r>
            <a:r>
              <a:rPr lang="en-US" altLang="zh-TW" i="1" baseline="-25000" dirty="0"/>
              <a:t>2</a:t>
            </a:r>
            <a:endParaRPr lang="en-US" dirty="0"/>
          </a:p>
          <a:p>
            <a:r>
              <a:rPr lang="en-US" dirty="0"/>
              <a:t>        =40</a:t>
            </a:r>
            <a:r>
              <a:rPr lang="en-US" altLang="zh-TW" i="1" dirty="0"/>
              <a:t> x</a:t>
            </a:r>
            <a:r>
              <a:rPr lang="en-US" altLang="zh-TW" i="1" baseline="-25000" dirty="0"/>
              <a:t>1</a:t>
            </a:r>
            <a:r>
              <a:rPr lang="en-US" dirty="0"/>
              <a:t> +36 </a:t>
            </a:r>
            <a:r>
              <a:rPr lang="en-US" altLang="zh-TW" i="1" dirty="0"/>
              <a:t>x</a:t>
            </a:r>
            <a:r>
              <a:rPr lang="en-US" altLang="zh-TW" i="1" baseline="-25000" dirty="0"/>
              <a:t>2</a:t>
            </a:r>
            <a:r>
              <a:rPr lang="en-US" dirty="0"/>
              <a:t> </a:t>
            </a:r>
          </a:p>
          <a:p>
            <a:pPr>
              <a:buFont typeface="Wingdings" panose="05000000000000000000" pitchFamily="2" charset="2"/>
              <a:buChar char="Ø"/>
            </a:pPr>
            <a:r>
              <a:rPr lang="en-US" dirty="0"/>
              <a:t>manufacturing constraint</a:t>
            </a:r>
          </a:p>
          <a:p>
            <a:r>
              <a:rPr lang="en-US" dirty="0"/>
              <a:t>   25(8)</a:t>
            </a:r>
            <a:r>
              <a:rPr lang="en-US" altLang="zh-TW" i="1" dirty="0"/>
              <a:t> x</a:t>
            </a:r>
            <a:r>
              <a:rPr lang="en-US" altLang="zh-TW" i="1" baseline="-25000" dirty="0"/>
              <a:t>1</a:t>
            </a:r>
            <a:r>
              <a:rPr lang="en-US" dirty="0"/>
              <a:t> +15(8) </a:t>
            </a:r>
            <a:r>
              <a:rPr lang="en-US" altLang="zh-TW" i="1" dirty="0"/>
              <a:t>x</a:t>
            </a:r>
            <a:r>
              <a:rPr lang="en-US" altLang="zh-TW" i="1" baseline="-25000" dirty="0"/>
              <a:t>2</a:t>
            </a:r>
            <a:r>
              <a:rPr lang="en-US" dirty="0"/>
              <a:t> </a:t>
            </a:r>
            <a:r>
              <a:rPr lang="en-US" altLang="zh-TW" dirty="0">
                <a:sym typeface="Symbol" panose="05050102010706020507" pitchFamily="18" charset="2"/>
              </a:rPr>
              <a:t> </a:t>
            </a:r>
            <a:r>
              <a:rPr lang="en-US" dirty="0"/>
              <a:t>1,800   </a:t>
            </a:r>
            <a:r>
              <a:rPr lang="en-US" dirty="0">
                <a:sym typeface="Wingdings" panose="05000000000000000000" pitchFamily="2" charset="2"/>
              </a:rPr>
              <a:t> </a:t>
            </a:r>
            <a:r>
              <a:rPr lang="en-US" dirty="0"/>
              <a:t> 200</a:t>
            </a:r>
            <a:r>
              <a:rPr lang="en-US" altLang="zh-TW" i="1" dirty="0"/>
              <a:t> x</a:t>
            </a:r>
            <a:r>
              <a:rPr lang="en-US" altLang="zh-TW" i="1" baseline="-25000" dirty="0"/>
              <a:t>1</a:t>
            </a:r>
            <a:r>
              <a:rPr lang="en-US" dirty="0"/>
              <a:t> +120  </a:t>
            </a:r>
            <a:r>
              <a:rPr lang="en-US" altLang="zh-TW" i="1" dirty="0"/>
              <a:t>x</a:t>
            </a:r>
            <a:r>
              <a:rPr lang="en-US" altLang="zh-TW" i="1" baseline="-25000" dirty="0"/>
              <a:t>2</a:t>
            </a:r>
            <a:r>
              <a:rPr lang="en-US" dirty="0"/>
              <a:t> </a:t>
            </a:r>
            <a:r>
              <a:rPr lang="en-US" altLang="zh-TW" dirty="0">
                <a:sym typeface="Symbol" panose="05050102010706020507" pitchFamily="18" charset="2"/>
              </a:rPr>
              <a:t> </a:t>
            </a:r>
            <a:r>
              <a:rPr lang="en-US" dirty="0"/>
              <a:t>1,800</a:t>
            </a:r>
          </a:p>
          <a:p>
            <a:pPr>
              <a:buFont typeface="Wingdings" panose="05000000000000000000" pitchFamily="2" charset="2"/>
              <a:buChar char="Ø"/>
            </a:pPr>
            <a:r>
              <a:rPr lang="en-US" dirty="0"/>
              <a:t>no. of inspectors available:</a:t>
            </a:r>
          </a:p>
          <a:p>
            <a:r>
              <a:rPr lang="en-US" dirty="0"/>
              <a:t>   0</a:t>
            </a:r>
            <a:r>
              <a:rPr lang="en-US" altLang="zh-TW" dirty="0">
                <a:sym typeface="Symbol" panose="05050102010706020507" pitchFamily="18" charset="2"/>
              </a:rPr>
              <a:t> </a:t>
            </a:r>
            <a:r>
              <a:rPr lang="en-US" dirty="0"/>
              <a:t> </a:t>
            </a:r>
            <a:r>
              <a:rPr lang="en-US" altLang="zh-TW" i="1" dirty="0"/>
              <a:t>x</a:t>
            </a:r>
            <a:r>
              <a:rPr lang="en-US" altLang="zh-TW" i="1" baseline="-25000" dirty="0"/>
              <a:t>1</a:t>
            </a:r>
            <a:r>
              <a:rPr lang="en-US" dirty="0"/>
              <a:t> </a:t>
            </a:r>
            <a:r>
              <a:rPr lang="en-US" altLang="zh-TW" dirty="0">
                <a:sym typeface="Symbol" panose="05050102010706020507" pitchFamily="18" charset="2"/>
              </a:rPr>
              <a:t> </a:t>
            </a:r>
            <a:r>
              <a:rPr lang="en-US" dirty="0"/>
              <a:t>8</a:t>
            </a:r>
          </a:p>
          <a:p>
            <a:r>
              <a:rPr lang="en-US" dirty="0"/>
              <a:t>   0</a:t>
            </a:r>
            <a:r>
              <a:rPr lang="en-US" altLang="zh-TW" dirty="0">
                <a:sym typeface="Symbol" panose="05050102010706020507" pitchFamily="18" charset="2"/>
              </a:rPr>
              <a:t> </a:t>
            </a:r>
            <a:r>
              <a:rPr lang="en-US" dirty="0"/>
              <a:t> </a:t>
            </a:r>
            <a:r>
              <a:rPr lang="en-US" altLang="zh-TW" i="1" dirty="0"/>
              <a:t>x</a:t>
            </a:r>
            <a:r>
              <a:rPr lang="en-US" altLang="zh-TW" i="1" baseline="-25000" dirty="0"/>
              <a:t>2</a:t>
            </a:r>
            <a:r>
              <a:rPr lang="en-US" dirty="0"/>
              <a:t> </a:t>
            </a:r>
            <a:r>
              <a:rPr lang="en-US" altLang="zh-TW" dirty="0">
                <a:sym typeface="Symbol" panose="05050102010706020507" pitchFamily="18" charset="2"/>
              </a:rPr>
              <a:t> </a:t>
            </a:r>
            <a:r>
              <a:rPr lang="en-US" dirty="0"/>
              <a:t>10</a:t>
            </a:r>
          </a:p>
          <a:p>
            <a:endParaRPr lang="en-US" dirty="0"/>
          </a:p>
        </p:txBody>
      </p:sp>
      <p:sp>
        <p:nvSpPr>
          <p:cNvPr id="4" name="Slide Number Placeholder 3">
            <a:extLst>
              <a:ext uri="{FF2B5EF4-FFF2-40B4-BE49-F238E27FC236}">
                <a16:creationId xmlns:a16="http://schemas.microsoft.com/office/drawing/2014/main" id="{7BFC0640-78B3-0550-B690-154809620E5E}"/>
              </a:ext>
            </a:extLst>
          </p:cNvPr>
          <p:cNvSpPr>
            <a:spLocks noGrp="1"/>
          </p:cNvSpPr>
          <p:nvPr>
            <p:ph type="sldNum" sz="quarter" idx="12"/>
          </p:nvPr>
        </p:nvSpPr>
        <p:spPr/>
        <p:txBody>
          <a:bodyPr/>
          <a:lstStyle/>
          <a:p>
            <a:fld id="{5FD5B158-82B0-4C87-A3EC-7455924DF160}" type="slidenum">
              <a:rPr lang="en-US" smtClean="0"/>
              <a:t>7</a:t>
            </a:fld>
            <a:endParaRPr lang="en-US"/>
          </a:p>
        </p:txBody>
      </p:sp>
    </p:spTree>
    <p:extLst>
      <p:ext uri="{BB962C8B-B14F-4D97-AF65-F5344CB8AC3E}">
        <p14:creationId xmlns:p14="http://schemas.microsoft.com/office/powerpoint/2010/main" val="3264234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F7E27-4779-B236-5833-05F0BF5EBB05}"/>
              </a:ext>
            </a:extLst>
          </p:cNvPr>
          <p:cNvSpPr>
            <a:spLocks noGrp="1"/>
          </p:cNvSpPr>
          <p:nvPr>
            <p:ph type="title"/>
          </p:nvPr>
        </p:nvSpPr>
        <p:spPr/>
        <p:txBody>
          <a:bodyPr/>
          <a:lstStyle/>
          <a:p>
            <a:r>
              <a:rPr lang="en-US" dirty="0"/>
              <a:t>The Graphical Solution</a:t>
            </a:r>
          </a:p>
        </p:txBody>
      </p:sp>
      <p:sp>
        <p:nvSpPr>
          <p:cNvPr id="4" name="Slide Number Placeholder 3">
            <a:extLst>
              <a:ext uri="{FF2B5EF4-FFF2-40B4-BE49-F238E27FC236}">
                <a16:creationId xmlns:a16="http://schemas.microsoft.com/office/drawing/2014/main" id="{75D54E96-EB10-C3DB-C51E-3785B85B8EC8}"/>
              </a:ext>
            </a:extLst>
          </p:cNvPr>
          <p:cNvSpPr>
            <a:spLocks noGrp="1"/>
          </p:cNvSpPr>
          <p:nvPr>
            <p:ph type="sldNum" sz="quarter" idx="12"/>
          </p:nvPr>
        </p:nvSpPr>
        <p:spPr/>
        <p:txBody>
          <a:bodyPr/>
          <a:lstStyle/>
          <a:p>
            <a:fld id="{5FD5B158-82B0-4C87-A3EC-7455924DF160}" type="slidenum">
              <a:rPr lang="en-US" smtClean="0"/>
              <a:t>8</a:t>
            </a:fld>
            <a:endParaRPr lang="en-US"/>
          </a:p>
        </p:txBody>
      </p:sp>
      <p:pic>
        <p:nvPicPr>
          <p:cNvPr id="5" name="Picture 4">
            <a:extLst>
              <a:ext uri="{FF2B5EF4-FFF2-40B4-BE49-F238E27FC236}">
                <a16:creationId xmlns:a16="http://schemas.microsoft.com/office/drawing/2014/main" id="{759845A3-4C63-9CBE-D3A2-7F85D1F67EFA}"/>
              </a:ext>
            </a:extLst>
          </p:cNvPr>
          <p:cNvPicPr>
            <a:picLocks noChangeAspect="1"/>
          </p:cNvPicPr>
          <p:nvPr/>
        </p:nvPicPr>
        <p:blipFill>
          <a:blip r:embed="rId2"/>
          <a:stretch>
            <a:fillRect/>
          </a:stretch>
        </p:blipFill>
        <p:spPr>
          <a:xfrm>
            <a:off x="2708148" y="1442142"/>
            <a:ext cx="6409944" cy="5382768"/>
          </a:xfrm>
          <a:prstGeom prst="rect">
            <a:avLst/>
          </a:prstGeom>
        </p:spPr>
      </p:pic>
    </p:spTree>
    <p:extLst>
      <p:ext uri="{BB962C8B-B14F-4D97-AF65-F5344CB8AC3E}">
        <p14:creationId xmlns:p14="http://schemas.microsoft.com/office/powerpoint/2010/main" val="1825595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E887-F8C4-7E1E-79AB-007E40170ED4}"/>
              </a:ext>
            </a:extLst>
          </p:cNvPr>
          <p:cNvSpPr>
            <a:spLocks noGrp="1"/>
          </p:cNvSpPr>
          <p:nvPr>
            <p:ph type="title"/>
          </p:nvPr>
        </p:nvSpPr>
        <p:spPr/>
        <p:txBody>
          <a:bodyPr/>
          <a:lstStyle/>
          <a:p>
            <a:r>
              <a:rPr lang="en-US" dirty="0"/>
              <a:t>Example – optimal pipe diameter</a:t>
            </a:r>
          </a:p>
        </p:txBody>
      </p:sp>
      <p:sp>
        <p:nvSpPr>
          <p:cNvPr id="3" name="Content Placeholder 2">
            <a:extLst>
              <a:ext uri="{FF2B5EF4-FFF2-40B4-BE49-F238E27FC236}">
                <a16:creationId xmlns:a16="http://schemas.microsoft.com/office/drawing/2014/main" id="{AD9813C8-2FAB-ACAC-DCCC-9BC63078E182}"/>
              </a:ext>
            </a:extLst>
          </p:cNvPr>
          <p:cNvSpPr>
            <a:spLocks noGrp="1"/>
          </p:cNvSpPr>
          <p:nvPr>
            <p:ph idx="1"/>
          </p:nvPr>
        </p:nvSpPr>
        <p:spPr/>
        <p:txBody>
          <a:bodyPr>
            <a:normAutofit/>
          </a:bodyPr>
          <a:lstStyle/>
          <a:p>
            <a:r>
              <a:rPr lang="en-US" dirty="0"/>
              <a:t>In a chemical plant, the cost of pipes, their fittings, and pumping are important investment cost.  Consider a design of a pipeline L feet long that should carry fluid at the rate of Q </a:t>
            </a:r>
            <a:r>
              <a:rPr lang="en-US" dirty="0" err="1"/>
              <a:t>gpm</a:t>
            </a:r>
            <a:r>
              <a:rPr lang="en-US" dirty="0"/>
              <a:t>.  The selection of economic pipe diameter D(in.) is based on minimizing the annual cost of pipe, pump, and pumping.  Suppose the annual cost of a pipeline with a standard carbon steel pipe and a motor-driven centrifugal pump can be expressed as:</a:t>
            </a:r>
          </a:p>
          <a:p>
            <a:endParaRPr lang="en-US" dirty="0"/>
          </a:p>
          <a:p>
            <a:endParaRPr lang="en-US" dirty="0"/>
          </a:p>
          <a:p>
            <a:endParaRPr lang="en-US" dirty="0"/>
          </a:p>
          <a:p>
            <a:endParaRPr lang="en-US" dirty="0"/>
          </a:p>
          <a:p>
            <a:r>
              <a:rPr lang="en-US" altLang="zh-TW" dirty="0"/>
              <a:t>Formulate the appropriate single-variable optimization problem for designing a pipe of length 1000ft with a fluid rate of 20gpm.  The diameter of the pipe should be between 0.25 to 6 in.</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291AFBDE-76EF-45EC-2987-FA5A942E361C}"/>
              </a:ext>
            </a:extLst>
          </p:cNvPr>
          <p:cNvSpPr>
            <a:spLocks noGrp="1"/>
          </p:cNvSpPr>
          <p:nvPr>
            <p:ph type="sldNum" sz="quarter" idx="12"/>
          </p:nvPr>
        </p:nvSpPr>
        <p:spPr/>
        <p:txBody>
          <a:bodyPr/>
          <a:lstStyle/>
          <a:p>
            <a:fld id="{5FD5B158-82B0-4C87-A3EC-7455924DF160}" type="slidenum">
              <a:rPr lang="en-US" smtClean="0"/>
              <a:t>9</a:t>
            </a:fld>
            <a:endParaRPr lang="en-US"/>
          </a:p>
        </p:txBody>
      </p:sp>
      <p:graphicFrame>
        <p:nvGraphicFramePr>
          <p:cNvPr id="5" name="Object 4">
            <a:extLst>
              <a:ext uri="{FF2B5EF4-FFF2-40B4-BE49-F238E27FC236}">
                <a16:creationId xmlns:a16="http://schemas.microsoft.com/office/drawing/2014/main" id="{6D3A27C3-3DA3-9CEE-F72F-1C9118559F6B}"/>
              </a:ext>
            </a:extLst>
          </p:cNvPr>
          <p:cNvGraphicFramePr>
            <a:graphicFrameLocks noChangeAspect="1"/>
          </p:cNvGraphicFramePr>
          <p:nvPr>
            <p:extLst>
              <p:ext uri="{D42A27DB-BD31-4B8C-83A1-F6EECF244321}">
                <p14:modId xmlns:p14="http://schemas.microsoft.com/office/powerpoint/2010/main" val="1189932294"/>
              </p:ext>
            </p:extLst>
          </p:nvPr>
        </p:nvGraphicFramePr>
        <p:xfrm>
          <a:off x="2993565" y="3507658"/>
          <a:ext cx="6204870" cy="1506794"/>
        </p:xfrm>
        <a:graphic>
          <a:graphicData uri="http://schemas.openxmlformats.org/presentationml/2006/ole">
            <mc:AlternateContent xmlns:mc="http://schemas.openxmlformats.org/markup-compatibility/2006">
              <mc:Choice xmlns:v="urn:schemas-microsoft-com:vml" Requires="v">
                <p:oleObj name="Equation" r:id="rId2" imgW="5433124" imgH="1319850" progId="Equation.DSMT4">
                  <p:embed/>
                </p:oleObj>
              </mc:Choice>
              <mc:Fallback>
                <p:oleObj name="Equation" r:id="rId2" imgW="5433124" imgH="1319850" progId="Equation.DSMT4">
                  <p:embed/>
                  <p:pic>
                    <p:nvPicPr>
                      <p:cNvPr id="0" name=""/>
                      <p:cNvPicPr/>
                      <p:nvPr/>
                    </p:nvPicPr>
                    <p:blipFill>
                      <a:blip r:embed="rId3"/>
                      <a:stretch>
                        <a:fillRect/>
                      </a:stretch>
                    </p:blipFill>
                    <p:spPr>
                      <a:xfrm>
                        <a:off x="2993565" y="3507658"/>
                        <a:ext cx="6204870" cy="1506794"/>
                      </a:xfrm>
                      <a:prstGeom prst="rect">
                        <a:avLst/>
                      </a:prstGeom>
                    </p:spPr>
                  </p:pic>
                </p:oleObj>
              </mc:Fallback>
            </mc:AlternateContent>
          </a:graphicData>
        </a:graphic>
      </p:graphicFrame>
    </p:spTree>
    <p:extLst>
      <p:ext uri="{BB962C8B-B14F-4D97-AF65-F5344CB8AC3E}">
        <p14:creationId xmlns:p14="http://schemas.microsoft.com/office/powerpoint/2010/main" val="38039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940B4-B767-E22E-D468-B0ED3D6E13FB}"/>
              </a:ext>
            </a:extLst>
          </p:cNvPr>
          <p:cNvSpPr>
            <a:spLocks noGrp="1"/>
          </p:cNvSpPr>
          <p:nvPr>
            <p:ph type="title"/>
          </p:nvPr>
        </p:nvSpPr>
        <p:spPr/>
        <p:txBody>
          <a:bodyPr/>
          <a:lstStyle/>
          <a:p>
            <a:r>
              <a:rPr lang="en-US" dirty="0"/>
              <a:t>Python Code</a:t>
            </a:r>
          </a:p>
        </p:txBody>
      </p:sp>
      <p:sp>
        <p:nvSpPr>
          <p:cNvPr id="3" name="Content Placeholder 2">
            <a:extLst>
              <a:ext uri="{FF2B5EF4-FFF2-40B4-BE49-F238E27FC236}">
                <a16:creationId xmlns:a16="http://schemas.microsoft.com/office/drawing/2014/main" id="{BB7ACEB8-7FF7-6525-8FA5-B7D0FAB35B1F}"/>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8C23EAD-0768-FABF-B30D-BD0FF56DA02B}"/>
              </a:ext>
            </a:extLst>
          </p:cNvPr>
          <p:cNvSpPr>
            <a:spLocks noGrp="1"/>
          </p:cNvSpPr>
          <p:nvPr>
            <p:ph type="sldNum" sz="quarter" idx="12"/>
          </p:nvPr>
        </p:nvSpPr>
        <p:spPr/>
        <p:txBody>
          <a:bodyPr/>
          <a:lstStyle/>
          <a:p>
            <a:fld id="{5FD5B158-82B0-4C87-A3EC-7455924DF160}" type="slidenum">
              <a:rPr lang="en-US" smtClean="0"/>
              <a:t>10</a:t>
            </a:fld>
            <a:endParaRPr lang="en-US"/>
          </a:p>
        </p:txBody>
      </p:sp>
      <p:pic>
        <p:nvPicPr>
          <p:cNvPr id="6" name="Picture 5">
            <a:extLst>
              <a:ext uri="{FF2B5EF4-FFF2-40B4-BE49-F238E27FC236}">
                <a16:creationId xmlns:a16="http://schemas.microsoft.com/office/drawing/2014/main" id="{930D76E3-CCAF-BBFA-DCF9-C38DD279EC92}"/>
              </a:ext>
            </a:extLst>
          </p:cNvPr>
          <p:cNvPicPr>
            <a:picLocks noChangeAspect="1"/>
          </p:cNvPicPr>
          <p:nvPr/>
        </p:nvPicPr>
        <p:blipFill>
          <a:blip r:embed="rId2"/>
          <a:stretch>
            <a:fillRect/>
          </a:stretch>
        </p:blipFill>
        <p:spPr>
          <a:xfrm>
            <a:off x="1036320" y="1845734"/>
            <a:ext cx="5113462" cy="4312558"/>
          </a:xfrm>
          <a:prstGeom prst="rect">
            <a:avLst/>
          </a:prstGeom>
        </p:spPr>
      </p:pic>
      <p:pic>
        <p:nvPicPr>
          <p:cNvPr id="7" name="Picture 6">
            <a:extLst>
              <a:ext uri="{FF2B5EF4-FFF2-40B4-BE49-F238E27FC236}">
                <a16:creationId xmlns:a16="http://schemas.microsoft.com/office/drawing/2014/main" id="{931690B8-8F13-8E37-268F-984B4AE33687}"/>
              </a:ext>
            </a:extLst>
          </p:cNvPr>
          <p:cNvPicPr>
            <a:picLocks noChangeAspect="1"/>
          </p:cNvPicPr>
          <p:nvPr/>
        </p:nvPicPr>
        <p:blipFill>
          <a:blip r:embed="rId3"/>
          <a:stretch>
            <a:fillRect/>
          </a:stretch>
        </p:blipFill>
        <p:spPr>
          <a:xfrm>
            <a:off x="6373061" y="2031999"/>
            <a:ext cx="4559339" cy="3005455"/>
          </a:xfrm>
          <a:prstGeom prst="rect">
            <a:avLst/>
          </a:prstGeom>
        </p:spPr>
      </p:pic>
      <p:sp>
        <p:nvSpPr>
          <p:cNvPr id="8" name="TextBox 7">
            <a:extLst>
              <a:ext uri="{FF2B5EF4-FFF2-40B4-BE49-F238E27FC236}">
                <a16:creationId xmlns:a16="http://schemas.microsoft.com/office/drawing/2014/main" id="{537E8FE1-E593-AE23-2314-0CA55116602C}"/>
              </a:ext>
            </a:extLst>
          </p:cNvPr>
          <p:cNvSpPr txBox="1"/>
          <p:nvPr/>
        </p:nvSpPr>
        <p:spPr>
          <a:xfrm>
            <a:off x="6071970" y="1011981"/>
            <a:ext cx="5161520" cy="646331"/>
          </a:xfrm>
          <a:prstGeom prst="rect">
            <a:avLst/>
          </a:prstGeom>
          <a:noFill/>
        </p:spPr>
        <p:txBody>
          <a:bodyPr wrap="square" rtlCol="0">
            <a:spAutoFit/>
          </a:bodyPr>
          <a:lstStyle/>
          <a:p>
            <a:r>
              <a:rPr lang="en-US" dirty="0">
                <a:hlinkClick r:id="rId4"/>
              </a:rPr>
              <a:t>https://colab.research.google.com/drive/1YcFnrEFjGIefFn9C8MHTS7PWEMMql11g?usp=sharing</a:t>
            </a:r>
            <a:r>
              <a:rPr lang="en-US" dirty="0"/>
              <a:t> </a:t>
            </a:r>
          </a:p>
        </p:txBody>
      </p:sp>
    </p:spTree>
    <p:extLst>
      <p:ext uri="{BB962C8B-B14F-4D97-AF65-F5344CB8AC3E}">
        <p14:creationId xmlns:p14="http://schemas.microsoft.com/office/powerpoint/2010/main" val="350044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061C0DB-0663-9B63-D991-664C2423DD4C}"/>
              </a:ext>
            </a:extLst>
          </p:cNvPr>
          <p:cNvSpPr/>
          <p:nvPr/>
        </p:nvSpPr>
        <p:spPr>
          <a:xfrm>
            <a:off x="1209368" y="1897626"/>
            <a:ext cx="2063750" cy="204510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F03D4DBC-D0BC-11F0-E4D1-5002192BED06}"/>
              </a:ext>
            </a:extLst>
          </p:cNvPr>
          <p:cNvSpPr>
            <a:spLocks noGrp="1"/>
          </p:cNvSpPr>
          <p:nvPr>
            <p:ph type="title"/>
          </p:nvPr>
        </p:nvSpPr>
        <p:spPr/>
        <p:txBody>
          <a:bodyPr/>
          <a:lstStyle/>
          <a:p>
            <a:r>
              <a:rPr lang="en-US" dirty="0"/>
              <a:t>Example - A Chemical Reactor Design Problem </a:t>
            </a:r>
          </a:p>
        </p:txBody>
      </p:sp>
      <p:sp>
        <p:nvSpPr>
          <p:cNvPr id="4" name="Slide Number Placeholder 3">
            <a:extLst>
              <a:ext uri="{FF2B5EF4-FFF2-40B4-BE49-F238E27FC236}">
                <a16:creationId xmlns:a16="http://schemas.microsoft.com/office/drawing/2014/main" id="{91C9B980-CB61-0770-5224-C02CE7AC2E9E}"/>
              </a:ext>
            </a:extLst>
          </p:cNvPr>
          <p:cNvSpPr>
            <a:spLocks noGrp="1"/>
          </p:cNvSpPr>
          <p:nvPr>
            <p:ph type="sldNum" sz="quarter" idx="12"/>
          </p:nvPr>
        </p:nvSpPr>
        <p:spPr/>
        <p:txBody>
          <a:bodyPr/>
          <a:lstStyle/>
          <a:p>
            <a:fld id="{5FD5B158-82B0-4C87-A3EC-7455924DF160}" type="slidenum">
              <a:rPr lang="en-US" smtClean="0"/>
              <a:t>11</a:t>
            </a:fld>
            <a:endParaRPr lang="en-US"/>
          </a:p>
        </p:txBody>
      </p:sp>
      <p:graphicFrame>
        <p:nvGraphicFramePr>
          <p:cNvPr id="5" name="Object 4">
            <a:extLst>
              <a:ext uri="{FF2B5EF4-FFF2-40B4-BE49-F238E27FC236}">
                <a16:creationId xmlns:a16="http://schemas.microsoft.com/office/drawing/2014/main" id="{2AB1FA2D-EE1D-1EA5-CE96-961AC136A899}"/>
              </a:ext>
            </a:extLst>
          </p:cNvPr>
          <p:cNvGraphicFramePr>
            <a:graphicFrameLocks noChangeAspect="1"/>
          </p:cNvGraphicFramePr>
          <p:nvPr>
            <p:extLst>
              <p:ext uri="{D42A27DB-BD31-4B8C-83A1-F6EECF244321}">
                <p14:modId xmlns:p14="http://schemas.microsoft.com/office/powerpoint/2010/main" val="2218894246"/>
              </p:ext>
            </p:extLst>
          </p:nvPr>
        </p:nvGraphicFramePr>
        <p:xfrm>
          <a:off x="1574595" y="2162558"/>
          <a:ext cx="1317625" cy="512763"/>
        </p:xfrm>
        <a:graphic>
          <a:graphicData uri="http://schemas.openxmlformats.org/presentationml/2006/ole">
            <mc:AlternateContent xmlns:mc="http://schemas.openxmlformats.org/markup-compatibility/2006">
              <mc:Choice xmlns:v="urn:schemas-microsoft-com:vml" Requires="v">
                <p:oleObj name="Equation" r:id="rId2" imgW="1316990" imgH="512293" progId="Equation.DSMT4">
                  <p:embed/>
                </p:oleObj>
              </mc:Choice>
              <mc:Fallback>
                <p:oleObj name="Equation" r:id="rId2" imgW="1316990" imgH="512293" progId="Equation.DSMT4">
                  <p:embed/>
                  <p:pic>
                    <p:nvPicPr>
                      <p:cNvPr id="0" name=""/>
                      <p:cNvPicPr/>
                      <p:nvPr/>
                    </p:nvPicPr>
                    <p:blipFill>
                      <a:blip r:embed="rId3"/>
                      <a:stretch>
                        <a:fillRect/>
                      </a:stretch>
                    </p:blipFill>
                    <p:spPr>
                      <a:xfrm>
                        <a:off x="1574595" y="2162558"/>
                        <a:ext cx="1317625" cy="512763"/>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1968F664-60A5-BBBF-64F3-50C8D510CDE9}"/>
              </a:ext>
            </a:extLst>
          </p:cNvPr>
          <p:cNvGraphicFramePr>
            <a:graphicFrameLocks noChangeAspect="1"/>
          </p:cNvGraphicFramePr>
          <p:nvPr>
            <p:extLst>
              <p:ext uri="{D42A27DB-BD31-4B8C-83A1-F6EECF244321}">
                <p14:modId xmlns:p14="http://schemas.microsoft.com/office/powerpoint/2010/main" val="688742193"/>
              </p:ext>
            </p:extLst>
          </p:nvPr>
        </p:nvGraphicFramePr>
        <p:xfrm>
          <a:off x="1477758" y="2954469"/>
          <a:ext cx="1511300" cy="757237"/>
        </p:xfrm>
        <a:graphic>
          <a:graphicData uri="http://schemas.openxmlformats.org/presentationml/2006/ole">
            <mc:AlternateContent xmlns:mc="http://schemas.openxmlformats.org/markup-compatibility/2006">
              <mc:Choice xmlns:v="urn:schemas-microsoft-com:vml" Requires="v">
                <p:oleObj name="Equation" r:id="rId4" imgW="1512020" imgH="757444" progId="Equation.DSMT4">
                  <p:embed/>
                </p:oleObj>
              </mc:Choice>
              <mc:Fallback>
                <p:oleObj name="Equation" r:id="rId4" imgW="1512020" imgH="757444" progId="Equation.DSMT4">
                  <p:embed/>
                  <p:pic>
                    <p:nvPicPr>
                      <p:cNvPr id="0" name=""/>
                      <p:cNvPicPr/>
                      <p:nvPr/>
                    </p:nvPicPr>
                    <p:blipFill>
                      <a:blip r:embed="rId5"/>
                      <a:stretch>
                        <a:fillRect/>
                      </a:stretch>
                    </p:blipFill>
                    <p:spPr>
                      <a:xfrm>
                        <a:off x="1477758" y="2954469"/>
                        <a:ext cx="1511300" cy="757237"/>
                      </a:xfrm>
                      <a:prstGeom prst="rect">
                        <a:avLst/>
                      </a:prstGeom>
                    </p:spPr>
                  </p:pic>
                </p:oleObj>
              </mc:Fallback>
            </mc:AlternateContent>
          </a:graphicData>
        </a:graphic>
      </p:graphicFrame>
      <p:sp>
        <p:nvSpPr>
          <p:cNvPr id="7" name="Text Box 10">
            <a:extLst>
              <a:ext uri="{FF2B5EF4-FFF2-40B4-BE49-F238E27FC236}">
                <a16:creationId xmlns:a16="http://schemas.microsoft.com/office/drawing/2014/main" id="{60BF9C8A-7561-543E-7C27-78ECAE1AD2E1}"/>
              </a:ext>
            </a:extLst>
          </p:cNvPr>
          <p:cNvSpPr txBox="1">
            <a:spLocks noChangeArrowheads="1"/>
          </p:cNvSpPr>
          <p:nvPr/>
        </p:nvSpPr>
        <p:spPr bwMode="auto">
          <a:xfrm>
            <a:off x="3912982" y="2235584"/>
            <a:ext cx="2063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Material Balances:</a:t>
            </a:r>
          </a:p>
        </p:txBody>
      </p:sp>
      <p:graphicFrame>
        <p:nvGraphicFramePr>
          <p:cNvPr id="8" name="Object 7">
            <a:extLst>
              <a:ext uri="{FF2B5EF4-FFF2-40B4-BE49-F238E27FC236}">
                <a16:creationId xmlns:a16="http://schemas.microsoft.com/office/drawing/2014/main" id="{F9723227-E9BB-8877-C94D-9B22C282EC6A}"/>
              </a:ext>
            </a:extLst>
          </p:cNvPr>
          <p:cNvGraphicFramePr>
            <a:graphicFrameLocks noChangeAspect="1"/>
          </p:cNvGraphicFramePr>
          <p:nvPr>
            <p:extLst>
              <p:ext uri="{D42A27DB-BD31-4B8C-83A1-F6EECF244321}">
                <p14:modId xmlns:p14="http://schemas.microsoft.com/office/powerpoint/2010/main" val="965459339"/>
              </p:ext>
            </p:extLst>
          </p:nvPr>
        </p:nvGraphicFramePr>
        <p:xfrm>
          <a:off x="4146867" y="2805113"/>
          <a:ext cx="1979613" cy="1854200"/>
        </p:xfrm>
        <a:graphic>
          <a:graphicData uri="http://schemas.openxmlformats.org/presentationml/2006/ole">
            <mc:AlternateContent xmlns:mc="http://schemas.openxmlformats.org/markup-compatibility/2006">
              <mc:Choice xmlns:v="urn:schemas-microsoft-com:vml" Requires="v">
                <p:oleObj name="Equation" r:id="rId6" imgW="1979803" imgH="1853413" progId="Equation.DSMT4">
                  <p:embed/>
                </p:oleObj>
              </mc:Choice>
              <mc:Fallback>
                <p:oleObj name="Equation" r:id="rId6" imgW="1979803" imgH="1853413" progId="Equation.DSMT4">
                  <p:embed/>
                  <p:pic>
                    <p:nvPicPr>
                      <p:cNvPr id="0" name=""/>
                      <p:cNvPicPr/>
                      <p:nvPr/>
                    </p:nvPicPr>
                    <p:blipFill>
                      <a:blip r:embed="rId7"/>
                      <a:stretch>
                        <a:fillRect/>
                      </a:stretch>
                    </p:blipFill>
                    <p:spPr>
                      <a:xfrm>
                        <a:off x="4146867" y="2805113"/>
                        <a:ext cx="1979613" cy="1854200"/>
                      </a:xfrm>
                      <a:prstGeom prst="rect">
                        <a:avLst/>
                      </a:prstGeom>
                    </p:spPr>
                  </p:pic>
                </p:oleObj>
              </mc:Fallback>
            </mc:AlternateContent>
          </a:graphicData>
        </a:graphic>
      </p:graphicFrame>
      <p:sp>
        <p:nvSpPr>
          <p:cNvPr id="9" name="Text Box 13">
            <a:extLst>
              <a:ext uri="{FF2B5EF4-FFF2-40B4-BE49-F238E27FC236}">
                <a16:creationId xmlns:a16="http://schemas.microsoft.com/office/drawing/2014/main" id="{4BAE5349-BC46-8E53-0B81-5897149A23DC}"/>
              </a:ext>
            </a:extLst>
          </p:cNvPr>
          <p:cNvSpPr txBox="1">
            <a:spLocks noChangeArrowheads="1"/>
          </p:cNvSpPr>
          <p:nvPr/>
        </p:nvSpPr>
        <p:spPr bwMode="auto">
          <a:xfrm>
            <a:off x="7862108" y="2235584"/>
            <a:ext cx="2038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Energy Balances: </a:t>
            </a:r>
          </a:p>
        </p:txBody>
      </p:sp>
      <p:graphicFrame>
        <p:nvGraphicFramePr>
          <p:cNvPr id="10" name="Object 9">
            <a:extLst>
              <a:ext uri="{FF2B5EF4-FFF2-40B4-BE49-F238E27FC236}">
                <a16:creationId xmlns:a16="http://schemas.microsoft.com/office/drawing/2014/main" id="{80353E95-7677-9479-149F-ABCC0563D12E}"/>
              </a:ext>
            </a:extLst>
          </p:cNvPr>
          <p:cNvGraphicFramePr>
            <a:graphicFrameLocks noChangeAspect="1"/>
          </p:cNvGraphicFramePr>
          <p:nvPr>
            <p:extLst>
              <p:ext uri="{D42A27DB-BD31-4B8C-83A1-F6EECF244321}">
                <p14:modId xmlns:p14="http://schemas.microsoft.com/office/powerpoint/2010/main" val="2469742869"/>
              </p:ext>
            </p:extLst>
          </p:nvPr>
        </p:nvGraphicFramePr>
        <p:xfrm>
          <a:off x="6429222" y="2841984"/>
          <a:ext cx="5113337" cy="558800"/>
        </p:xfrm>
        <a:graphic>
          <a:graphicData uri="http://schemas.openxmlformats.org/presentationml/2006/ole">
            <mc:AlternateContent xmlns:mc="http://schemas.openxmlformats.org/markup-compatibility/2006">
              <mc:Choice xmlns:v="urn:schemas-microsoft-com:vml" Requires="v">
                <p:oleObj name="Equation" r:id="rId8" imgW="5113232" imgH="559521" progId="Equation.DSMT4">
                  <p:embed/>
                </p:oleObj>
              </mc:Choice>
              <mc:Fallback>
                <p:oleObj name="Equation" r:id="rId8" imgW="5113232" imgH="559521" progId="Equation.DSMT4">
                  <p:embed/>
                  <p:pic>
                    <p:nvPicPr>
                      <p:cNvPr id="0" name=""/>
                      <p:cNvPicPr/>
                      <p:nvPr/>
                    </p:nvPicPr>
                    <p:blipFill>
                      <a:blip r:embed="rId9"/>
                      <a:stretch>
                        <a:fillRect/>
                      </a:stretch>
                    </p:blipFill>
                    <p:spPr>
                      <a:xfrm>
                        <a:off x="6429222" y="2841984"/>
                        <a:ext cx="5113337" cy="558800"/>
                      </a:xfrm>
                      <a:prstGeom prst="rect">
                        <a:avLst/>
                      </a:prstGeom>
                    </p:spPr>
                  </p:pic>
                </p:oleObj>
              </mc:Fallback>
            </mc:AlternateContent>
          </a:graphicData>
        </a:graphic>
      </p:graphicFrame>
    </p:spTree>
    <p:extLst>
      <p:ext uri="{BB962C8B-B14F-4D97-AF65-F5344CB8AC3E}">
        <p14:creationId xmlns:p14="http://schemas.microsoft.com/office/powerpoint/2010/main" val="2032999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0D441-E0F8-7C6D-6985-399F4C822D2B}"/>
              </a:ext>
            </a:extLst>
          </p:cNvPr>
          <p:cNvSpPr>
            <a:spLocks noGrp="1"/>
          </p:cNvSpPr>
          <p:nvPr>
            <p:ph type="title"/>
          </p:nvPr>
        </p:nvSpPr>
        <p:spPr/>
        <p:txBody>
          <a:bodyPr/>
          <a:lstStyle/>
          <a:p>
            <a:r>
              <a:rPr lang="en-US" dirty="0"/>
              <a:t>Example - A Chemical Reactor Design Problem </a:t>
            </a:r>
          </a:p>
        </p:txBody>
      </p:sp>
      <p:sp>
        <p:nvSpPr>
          <p:cNvPr id="3" name="Content Placeholder 2">
            <a:extLst>
              <a:ext uri="{FF2B5EF4-FFF2-40B4-BE49-F238E27FC236}">
                <a16:creationId xmlns:a16="http://schemas.microsoft.com/office/drawing/2014/main" id="{24736446-6E0B-2362-0F5D-D773EEB7C065}"/>
              </a:ext>
            </a:extLst>
          </p:cNvPr>
          <p:cNvSpPr>
            <a:spLocks noGrp="1"/>
          </p:cNvSpPr>
          <p:nvPr>
            <p:ph idx="1"/>
          </p:nvPr>
        </p:nvSpPr>
        <p:spPr/>
        <p:txBody>
          <a:bodyPr/>
          <a:lstStyle/>
          <a:p>
            <a:r>
              <a:rPr lang="en-US" altLang="zh-TW" sz="3600" b="1" dirty="0"/>
              <a:t>Problem</a:t>
            </a:r>
            <a:r>
              <a:rPr lang="en-US" altLang="zh-TW" sz="3600" dirty="0"/>
              <a:t>:  Assume that </a:t>
            </a:r>
            <a:r>
              <a:rPr lang="en-US" altLang="zh-TW" sz="3600" i="1" dirty="0"/>
              <a:t>C</a:t>
            </a:r>
            <a:r>
              <a:rPr lang="en-US" altLang="zh-TW" sz="3600" i="1" baseline="-25000" dirty="0"/>
              <a:t>0</a:t>
            </a:r>
            <a:r>
              <a:rPr lang="en-US" altLang="zh-TW" sz="3600" dirty="0"/>
              <a:t>, </a:t>
            </a:r>
            <a:r>
              <a:rPr lang="en-US" altLang="zh-TW" sz="3600" i="1" dirty="0"/>
              <a:t>T</a:t>
            </a:r>
            <a:r>
              <a:rPr lang="en-US" altLang="zh-TW" sz="3600" i="1" baseline="-25000" dirty="0"/>
              <a:t>J</a:t>
            </a:r>
            <a:r>
              <a:rPr lang="en-US" altLang="zh-TW" sz="3600" dirty="0"/>
              <a:t>, </a:t>
            </a:r>
            <a:r>
              <a:rPr lang="en-US" altLang="zh-TW" sz="3600" i="1" dirty="0" err="1"/>
              <a:t>t</a:t>
            </a:r>
            <a:r>
              <a:rPr lang="en-US" altLang="zh-TW" sz="3600" i="1" baseline="-25000" dirty="0" err="1"/>
              <a:t>f</a:t>
            </a:r>
            <a:r>
              <a:rPr lang="en-US" altLang="zh-TW" sz="3600" dirty="0"/>
              <a:t> can be designed, it is our objective to find good settings such that </a:t>
            </a:r>
            <a:r>
              <a:rPr lang="en-US" altLang="zh-TW" sz="3600" i="1" dirty="0"/>
              <a:t>C</a:t>
            </a:r>
            <a:r>
              <a:rPr lang="en-US" altLang="zh-TW" sz="3600" i="1" baseline="-25000" dirty="0"/>
              <a:t>B</a:t>
            </a:r>
            <a:r>
              <a:rPr lang="en-US" altLang="zh-TW" sz="3600" i="1" dirty="0"/>
              <a:t>(</a:t>
            </a:r>
            <a:r>
              <a:rPr lang="en-US" altLang="zh-TW" sz="3600" i="1" dirty="0" err="1"/>
              <a:t>t</a:t>
            </a:r>
            <a:r>
              <a:rPr lang="en-US" altLang="zh-TW" sz="3600" i="1" baseline="-25000" dirty="0" err="1"/>
              <a:t>f</a:t>
            </a:r>
            <a:r>
              <a:rPr lang="en-US" altLang="zh-TW" sz="3600" i="1" dirty="0"/>
              <a:t>)</a:t>
            </a:r>
            <a:r>
              <a:rPr lang="en-US" altLang="zh-TW" sz="3600" dirty="0"/>
              <a:t> can be maximized</a:t>
            </a:r>
          </a:p>
          <a:p>
            <a:endParaRPr lang="en-US" dirty="0"/>
          </a:p>
        </p:txBody>
      </p:sp>
      <p:sp>
        <p:nvSpPr>
          <p:cNvPr id="4" name="Slide Number Placeholder 3">
            <a:extLst>
              <a:ext uri="{FF2B5EF4-FFF2-40B4-BE49-F238E27FC236}">
                <a16:creationId xmlns:a16="http://schemas.microsoft.com/office/drawing/2014/main" id="{2655A6CE-5943-653E-7AC6-F45F7A8B5D9C}"/>
              </a:ext>
            </a:extLst>
          </p:cNvPr>
          <p:cNvSpPr>
            <a:spLocks noGrp="1"/>
          </p:cNvSpPr>
          <p:nvPr>
            <p:ph type="sldNum" sz="quarter" idx="12"/>
          </p:nvPr>
        </p:nvSpPr>
        <p:spPr/>
        <p:txBody>
          <a:bodyPr/>
          <a:lstStyle/>
          <a:p>
            <a:fld id="{5FD5B158-82B0-4C87-A3EC-7455924DF160}" type="slidenum">
              <a:rPr lang="en-US" smtClean="0"/>
              <a:t>12</a:t>
            </a:fld>
            <a:endParaRPr lang="en-US"/>
          </a:p>
        </p:txBody>
      </p:sp>
    </p:spTree>
    <p:extLst>
      <p:ext uri="{BB962C8B-B14F-4D97-AF65-F5344CB8AC3E}">
        <p14:creationId xmlns:p14="http://schemas.microsoft.com/office/powerpoint/2010/main" val="287506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A61E-E31F-067D-BD35-7B773B2FFF8B}"/>
              </a:ext>
            </a:extLst>
          </p:cNvPr>
          <p:cNvSpPr>
            <a:spLocks noGrp="1"/>
          </p:cNvSpPr>
          <p:nvPr>
            <p:ph type="title"/>
          </p:nvPr>
        </p:nvSpPr>
        <p:spPr/>
        <p:txBody>
          <a:bodyPr/>
          <a:lstStyle/>
          <a:p>
            <a:r>
              <a:rPr lang="en-US" dirty="0"/>
              <a:t>Special Types of Optimization problems </a:t>
            </a:r>
          </a:p>
        </p:txBody>
      </p:sp>
      <p:sp>
        <p:nvSpPr>
          <p:cNvPr id="3" name="Content Placeholder 2">
            <a:extLst>
              <a:ext uri="{FF2B5EF4-FFF2-40B4-BE49-F238E27FC236}">
                <a16:creationId xmlns:a16="http://schemas.microsoft.com/office/drawing/2014/main" id="{6D7B45F8-9738-DE07-495F-4FF5CE8E7ACB}"/>
              </a:ext>
            </a:extLst>
          </p:cNvPr>
          <p:cNvSpPr>
            <a:spLocks noGrp="1"/>
          </p:cNvSpPr>
          <p:nvPr>
            <p:ph idx="1"/>
          </p:nvPr>
        </p:nvSpPr>
        <p:spPr/>
        <p:txBody>
          <a:bodyPr>
            <a:normAutofit/>
          </a:bodyPr>
          <a:lstStyle/>
          <a:p>
            <a:pPr>
              <a:buFont typeface="Wingdings" panose="05000000000000000000" pitchFamily="2" charset="2"/>
              <a:buChar char="q"/>
            </a:pPr>
            <a:r>
              <a:rPr lang="en-US" altLang="zh-TW" sz="3200" dirty="0"/>
              <a:t>Unconstrained optimization</a:t>
            </a:r>
          </a:p>
          <a:p>
            <a:pPr lvl="8"/>
            <a:r>
              <a:rPr lang="en-US" altLang="zh-TW" sz="2000" dirty="0"/>
              <a:t>In here, neither equality nor inequality constraint exists</a:t>
            </a:r>
          </a:p>
          <a:p>
            <a:pPr lvl="4"/>
            <a:endParaRPr lang="en-US" altLang="zh-TW" sz="2000" dirty="0"/>
          </a:p>
          <a:p>
            <a:pPr>
              <a:buFont typeface="Wingdings" panose="05000000000000000000" pitchFamily="2" charset="2"/>
              <a:buChar char="q"/>
            </a:pPr>
            <a:r>
              <a:rPr lang="en-US" altLang="zh-TW" sz="3200" dirty="0"/>
              <a:t> Linear Programming (LP) </a:t>
            </a:r>
          </a:p>
          <a:p>
            <a:endParaRPr lang="en-US" altLang="zh-TW" sz="3200" dirty="0"/>
          </a:p>
          <a:p>
            <a:endParaRPr lang="en-US" altLang="zh-TW" sz="3200" dirty="0"/>
          </a:p>
          <a:p>
            <a:endParaRPr lang="en-US" altLang="zh-TW" sz="3200" dirty="0"/>
          </a:p>
          <a:p>
            <a:pPr lvl="4"/>
            <a:r>
              <a:rPr lang="en-US" altLang="zh-TW" sz="2000" dirty="0"/>
              <a:t>In here, all the objective function and constraints are linear functions to </a:t>
            </a:r>
            <a:r>
              <a:rPr lang="en-US" altLang="zh-TW" sz="2000" b="1" dirty="0"/>
              <a:t>x</a:t>
            </a:r>
            <a:endParaRPr lang="en-US" sz="2000" dirty="0"/>
          </a:p>
        </p:txBody>
      </p:sp>
      <p:sp>
        <p:nvSpPr>
          <p:cNvPr id="4" name="Slide Number Placeholder 3">
            <a:extLst>
              <a:ext uri="{FF2B5EF4-FFF2-40B4-BE49-F238E27FC236}">
                <a16:creationId xmlns:a16="http://schemas.microsoft.com/office/drawing/2014/main" id="{53A0D32A-4B1F-C7FB-DBAB-0A6CB8DC4087}"/>
              </a:ext>
            </a:extLst>
          </p:cNvPr>
          <p:cNvSpPr>
            <a:spLocks noGrp="1"/>
          </p:cNvSpPr>
          <p:nvPr>
            <p:ph type="sldNum" sz="quarter" idx="12"/>
          </p:nvPr>
        </p:nvSpPr>
        <p:spPr/>
        <p:txBody>
          <a:bodyPr/>
          <a:lstStyle/>
          <a:p>
            <a:fld id="{5FD5B158-82B0-4C87-A3EC-7455924DF160}" type="slidenum">
              <a:rPr lang="en-US" smtClean="0"/>
              <a:t>13</a:t>
            </a:fld>
            <a:endParaRPr lang="en-US"/>
          </a:p>
        </p:txBody>
      </p:sp>
      <p:pic>
        <p:nvPicPr>
          <p:cNvPr id="5" name="Picture 4">
            <a:extLst>
              <a:ext uri="{FF2B5EF4-FFF2-40B4-BE49-F238E27FC236}">
                <a16:creationId xmlns:a16="http://schemas.microsoft.com/office/drawing/2014/main" id="{99CFED1A-DCCA-E286-4699-5BC648D6B32B}"/>
              </a:ext>
            </a:extLst>
          </p:cNvPr>
          <p:cNvPicPr>
            <a:picLocks noChangeAspect="1"/>
          </p:cNvPicPr>
          <p:nvPr/>
        </p:nvPicPr>
        <p:blipFill>
          <a:blip r:embed="rId2"/>
          <a:stretch>
            <a:fillRect/>
          </a:stretch>
        </p:blipFill>
        <p:spPr>
          <a:xfrm>
            <a:off x="1179576" y="2408936"/>
            <a:ext cx="1298448" cy="597408"/>
          </a:xfrm>
          <a:prstGeom prst="rect">
            <a:avLst/>
          </a:prstGeom>
        </p:spPr>
      </p:pic>
      <p:graphicFrame>
        <p:nvGraphicFramePr>
          <p:cNvPr id="6" name="Object 5">
            <a:extLst>
              <a:ext uri="{FF2B5EF4-FFF2-40B4-BE49-F238E27FC236}">
                <a16:creationId xmlns:a16="http://schemas.microsoft.com/office/drawing/2014/main" id="{1C3BDA00-D499-A7C1-4CAA-8B68ED62AC0B}"/>
              </a:ext>
            </a:extLst>
          </p:cNvPr>
          <p:cNvGraphicFramePr>
            <a:graphicFrameLocks noChangeAspect="1"/>
          </p:cNvGraphicFramePr>
          <p:nvPr>
            <p:extLst>
              <p:ext uri="{D42A27DB-BD31-4B8C-83A1-F6EECF244321}">
                <p14:modId xmlns:p14="http://schemas.microsoft.com/office/powerpoint/2010/main" val="2637588679"/>
              </p:ext>
            </p:extLst>
          </p:nvPr>
        </p:nvGraphicFramePr>
        <p:xfrm>
          <a:off x="1260629" y="3851657"/>
          <a:ext cx="4350085" cy="1683904"/>
        </p:xfrm>
        <a:graphic>
          <a:graphicData uri="http://schemas.openxmlformats.org/presentationml/2006/ole">
            <mc:AlternateContent xmlns:mc="http://schemas.openxmlformats.org/markup-compatibility/2006">
              <mc:Choice xmlns:v="urn:schemas-microsoft-com:vml" Requires="v">
                <p:oleObj name="Equation" r:id="rId3" imgW="3887999" imgH="1504434" progId="Equation.DSMT4">
                  <p:embed/>
                </p:oleObj>
              </mc:Choice>
              <mc:Fallback>
                <p:oleObj name="Equation" r:id="rId3" imgW="3887999" imgH="1504434" progId="Equation.DSMT4">
                  <p:embed/>
                  <p:pic>
                    <p:nvPicPr>
                      <p:cNvPr id="0" name=""/>
                      <p:cNvPicPr/>
                      <p:nvPr/>
                    </p:nvPicPr>
                    <p:blipFill>
                      <a:blip r:embed="rId4"/>
                      <a:stretch>
                        <a:fillRect/>
                      </a:stretch>
                    </p:blipFill>
                    <p:spPr>
                      <a:xfrm>
                        <a:off x="1260629" y="3851657"/>
                        <a:ext cx="4350085" cy="1683904"/>
                      </a:xfrm>
                      <a:prstGeom prst="rect">
                        <a:avLst/>
                      </a:prstGeom>
                    </p:spPr>
                  </p:pic>
                </p:oleObj>
              </mc:Fallback>
            </mc:AlternateContent>
          </a:graphicData>
        </a:graphic>
      </p:graphicFrame>
    </p:spTree>
    <p:extLst>
      <p:ext uri="{BB962C8B-B14F-4D97-AF65-F5344CB8AC3E}">
        <p14:creationId xmlns:p14="http://schemas.microsoft.com/office/powerpoint/2010/main" val="1324762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6E09B-3325-009C-C500-4DF2C8E2A029}"/>
              </a:ext>
            </a:extLst>
          </p:cNvPr>
          <p:cNvSpPr>
            <a:spLocks noGrp="1"/>
          </p:cNvSpPr>
          <p:nvPr>
            <p:ph type="title"/>
          </p:nvPr>
        </p:nvSpPr>
        <p:spPr/>
        <p:txBody>
          <a:bodyPr/>
          <a:lstStyle/>
          <a:p>
            <a:r>
              <a:rPr lang="en-US" dirty="0"/>
              <a:t>Special Types of Optimization problems </a:t>
            </a:r>
          </a:p>
        </p:txBody>
      </p:sp>
      <p:sp>
        <p:nvSpPr>
          <p:cNvPr id="3" name="Content Placeholder 2">
            <a:extLst>
              <a:ext uri="{FF2B5EF4-FFF2-40B4-BE49-F238E27FC236}">
                <a16:creationId xmlns:a16="http://schemas.microsoft.com/office/drawing/2014/main" id="{42940C63-CF0D-74EE-3CFE-BC5D66A853EA}"/>
              </a:ext>
            </a:extLst>
          </p:cNvPr>
          <p:cNvSpPr>
            <a:spLocks noGrp="1"/>
          </p:cNvSpPr>
          <p:nvPr>
            <p:ph idx="1"/>
          </p:nvPr>
        </p:nvSpPr>
        <p:spPr/>
        <p:txBody>
          <a:bodyPr/>
          <a:lstStyle/>
          <a:p>
            <a:pPr>
              <a:buFont typeface="Wingdings" panose="05000000000000000000" pitchFamily="2" charset="2"/>
              <a:buChar char="q"/>
            </a:pPr>
            <a:r>
              <a:rPr lang="en-US" altLang="zh-TW" sz="2400" b="1" dirty="0"/>
              <a:t>Quadratic Programming (QP) </a:t>
            </a:r>
          </a:p>
          <a:p>
            <a:endParaRPr lang="en-US" dirty="0"/>
          </a:p>
        </p:txBody>
      </p:sp>
      <p:sp>
        <p:nvSpPr>
          <p:cNvPr id="4" name="Slide Number Placeholder 3">
            <a:extLst>
              <a:ext uri="{FF2B5EF4-FFF2-40B4-BE49-F238E27FC236}">
                <a16:creationId xmlns:a16="http://schemas.microsoft.com/office/drawing/2014/main" id="{227BF46D-7382-E4B6-7A2B-58AD83477E0D}"/>
              </a:ext>
            </a:extLst>
          </p:cNvPr>
          <p:cNvSpPr>
            <a:spLocks noGrp="1"/>
          </p:cNvSpPr>
          <p:nvPr>
            <p:ph type="sldNum" sz="quarter" idx="12"/>
          </p:nvPr>
        </p:nvSpPr>
        <p:spPr/>
        <p:txBody>
          <a:bodyPr/>
          <a:lstStyle/>
          <a:p>
            <a:fld id="{5FD5B158-82B0-4C87-A3EC-7455924DF160}" type="slidenum">
              <a:rPr lang="en-US" smtClean="0"/>
              <a:t>14</a:t>
            </a:fld>
            <a:endParaRPr lang="en-US"/>
          </a:p>
        </p:txBody>
      </p:sp>
      <p:sp>
        <p:nvSpPr>
          <p:cNvPr id="5" name="Text Box 6">
            <a:extLst>
              <a:ext uri="{FF2B5EF4-FFF2-40B4-BE49-F238E27FC236}">
                <a16:creationId xmlns:a16="http://schemas.microsoft.com/office/drawing/2014/main" id="{136186F3-83AF-E865-C864-BCE5434EE3B9}"/>
              </a:ext>
            </a:extLst>
          </p:cNvPr>
          <p:cNvSpPr txBox="1">
            <a:spLocks noChangeArrowheads="1"/>
          </p:cNvSpPr>
          <p:nvPr/>
        </p:nvSpPr>
        <p:spPr bwMode="auto">
          <a:xfrm>
            <a:off x="2916698" y="4797425"/>
            <a:ext cx="5010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In here, only the objective function is quadratic, </a:t>
            </a:r>
          </a:p>
          <a:p>
            <a:pPr eaLnBrk="1" hangingPunct="1"/>
            <a:r>
              <a:rPr lang="en-US" altLang="zh-TW" dirty="0"/>
              <a:t>but the constraints are linear </a:t>
            </a:r>
          </a:p>
        </p:txBody>
      </p:sp>
      <p:graphicFrame>
        <p:nvGraphicFramePr>
          <p:cNvPr id="6" name="Object 5">
            <a:extLst>
              <a:ext uri="{FF2B5EF4-FFF2-40B4-BE49-F238E27FC236}">
                <a16:creationId xmlns:a16="http://schemas.microsoft.com/office/drawing/2014/main" id="{3B40A1D7-698A-7116-64B7-38BFDDB6F489}"/>
              </a:ext>
            </a:extLst>
          </p:cNvPr>
          <p:cNvGraphicFramePr>
            <a:graphicFrameLocks noChangeAspect="1"/>
          </p:cNvGraphicFramePr>
          <p:nvPr>
            <p:extLst>
              <p:ext uri="{D42A27DB-BD31-4B8C-83A1-F6EECF244321}">
                <p14:modId xmlns:p14="http://schemas.microsoft.com/office/powerpoint/2010/main" val="1206523646"/>
              </p:ext>
            </p:extLst>
          </p:nvPr>
        </p:nvGraphicFramePr>
        <p:xfrm>
          <a:off x="3391822" y="2517669"/>
          <a:ext cx="4248150" cy="1849437"/>
        </p:xfrm>
        <a:graphic>
          <a:graphicData uri="http://schemas.openxmlformats.org/presentationml/2006/ole">
            <mc:AlternateContent xmlns:mc="http://schemas.openxmlformats.org/markup-compatibility/2006">
              <mc:Choice xmlns:v="urn:schemas-microsoft-com:vml" Requires="v">
                <p:oleObj name="Equation" r:id="rId2" imgW="4247473" imgH="1850169" progId="Equation.DSMT4">
                  <p:embed/>
                </p:oleObj>
              </mc:Choice>
              <mc:Fallback>
                <p:oleObj name="Equation" r:id="rId2" imgW="4247473" imgH="1850169" progId="Equation.DSMT4">
                  <p:embed/>
                  <p:pic>
                    <p:nvPicPr>
                      <p:cNvPr id="0" name=""/>
                      <p:cNvPicPr/>
                      <p:nvPr/>
                    </p:nvPicPr>
                    <p:blipFill>
                      <a:blip r:embed="rId3"/>
                      <a:stretch>
                        <a:fillRect/>
                      </a:stretch>
                    </p:blipFill>
                    <p:spPr>
                      <a:xfrm>
                        <a:off x="3391822" y="2517669"/>
                        <a:ext cx="4248150" cy="1849437"/>
                      </a:xfrm>
                      <a:prstGeom prst="rect">
                        <a:avLst/>
                      </a:prstGeom>
                    </p:spPr>
                  </p:pic>
                </p:oleObj>
              </mc:Fallback>
            </mc:AlternateContent>
          </a:graphicData>
        </a:graphic>
      </p:graphicFrame>
    </p:spTree>
    <p:extLst>
      <p:ext uri="{BB962C8B-B14F-4D97-AF65-F5344CB8AC3E}">
        <p14:creationId xmlns:p14="http://schemas.microsoft.com/office/powerpoint/2010/main" val="205366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D02DD-FA71-155F-A818-AED0F6E94103}"/>
              </a:ext>
            </a:extLst>
          </p:cNvPr>
          <p:cNvSpPr>
            <a:spLocks noGrp="1"/>
          </p:cNvSpPr>
          <p:nvPr>
            <p:ph type="title"/>
          </p:nvPr>
        </p:nvSpPr>
        <p:spPr/>
        <p:txBody>
          <a:bodyPr/>
          <a:lstStyle/>
          <a:p>
            <a:r>
              <a:rPr lang="en-US" dirty="0"/>
              <a:t>Special Types of Optimization problems </a:t>
            </a:r>
          </a:p>
        </p:txBody>
      </p:sp>
      <p:sp>
        <p:nvSpPr>
          <p:cNvPr id="3" name="Content Placeholder 2">
            <a:extLst>
              <a:ext uri="{FF2B5EF4-FFF2-40B4-BE49-F238E27FC236}">
                <a16:creationId xmlns:a16="http://schemas.microsoft.com/office/drawing/2014/main" id="{848EE0AF-5F3D-634E-1604-8D090660EEB6}"/>
              </a:ext>
            </a:extLst>
          </p:cNvPr>
          <p:cNvSpPr>
            <a:spLocks noGrp="1"/>
          </p:cNvSpPr>
          <p:nvPr>
            <p:ph idx="1"/>
          </p:nvPr>
        </p:nvSpPr>
        <p:spPr/>
        <p:txBody>
          <a:bodyPr/>
          <a:lstStyle/>
          <a:p>
            <a:pPr>
              <a:buFont typeface="Wingdings" panose="05000000000000000000" pitchFamily="2" charset="2"/>
              <a:buChar char="q"/>
            </a:pPr>
            <a:r>
              <a:rPr lang="en-US" altLang="zh-TW" sz="2400" b="1" dirty="0"/>
              <a:t>Optimization with respect to a continuous variable (Calculus of Variation)</a:t>
            </a:r>
            <a:r>
              <a:rPr lang="en-US" altLang="zh-TW" sz="2400" dirty="0"/>
              <a:t> </a:t>
            </a:r>
          </a:p>
          <a:p>
            <a:endParaRPr lang="en-US" dirty="0"/>
          </a:p>
        </p:txBody>
      </p:sp>
      <p:sp>
        <p:nvSpPr>
          <p:cNvPr id="4" name="Slide Number Placeholder 3">
            <a:extLst>
              <a:ext uri="{FF2B5EF4-FFF2-40B4-BE49-F238E27FC236}">
                <a16:creationId xmlns:a16="http://schemas.microsoft.com/office/drawing/2014/main" id="{38C70655-AE78-A78E-8A34-73A00A1B938C}"/>
              </a:ext>
            </a:extLst>
          </p:cNvPr>
          <p:cNvSpPr>
            <a:spLocks noGrp="1"/>
          </p:cNvSpPr>
          <p:nvPr>
            <p:ph type="sldNum" sz="quarter" idx="12"/>
          </p:nvPr>
        </p:nvSpPr>
        <p:spPr/>
        <p:txBody>
          <a:bodyPr/>
          <a:lstStyle/>
          <a:p>
            <a:fld id="{5FD5B158-82B0-4C87-A3EC-7455924DF160}" type="slidenum">
              <a:rPr lang="en-US" smtClean="0"/>
              <a:t>15</a:t>
            </a:fld>
            <a:endParaRPr lang="en-US"/>
          </a:p>
        </p:txBody>
      </p:sp>
      <p:sp>
        <p:nvSpPr>
          <p:cNvPr id="5" name="Text Box 6">
            <a:extLst>
              <a:ext uri="{FF2B5EF4-FFF2-40B4-BE49-F238E27FC236}">
                <a16:creationId xmlns:a16="http://schemas.microsoft.com/office/drawing/2014/main" id="{A5DBC8F9-210E-109B-D970-AE0728569533}"/>
              </a:ext>
            </a:extLst>
          </p:cNvPr>
          <p:cNvSpPr txBox="1">
            <a:spLocks noChangeArrowheads="1"/>
          </p:cNvSpPr>
          <p:nvPr/>
        </p:nvSpPr>
        <p:spPr bwMode="auto">
          <a:xfrm>
            <a:off x="2756362" y="2694193"/>
            <a:ext cx="207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Find </a:t>
            </a:r>
            <a:r>
              <a:rPr lang="en-US" altLang="zh-TW" i="1" dirty="0"/>
              <a:t>x(t)</a:t>
            </a:r>
            <a:r>
              <a:rPr lang="en-US" altLang="zh-TW" dirty="0"/>
              <a:t> such that </a:t>
            </a:r>
          </a:p>
        </p:txBody>
      </p:sp>
      <p:graphicFrame>
        <p:nvGraphicFramePr>
          <p:cNvPr id="6" name="Object 5">
            <a:extLst>
              <a:ext uri="{FF2B5EF4-FFF2-40B4-BE49-F238E27FC236}">
                <a16:creationId xmlns:a16="http://schemas.microsoft.com/office/drawing/2014/main" id="{FFE40F10-D31F-E8CC-A74C-9A2B5B5E0D59}"/>
              </a:ext>
            </a:extLst>
          </p:cNvPr>
          <p:cNvGraphicFramePr>
            <a:graphicFrameLocks noChangeAspect="1"/>
          </p:cNvGraphicFramePr>
          <p:nvPr>
            <p:extLst>
              <p:ext uri="{D42A27DB-BD31-4B8C-83A1-F6EECF244321}">
                <p14:modId xmlns:p14="http://schemas.microsoft.com/office/powerpoint/2010/main" val="1469341720"/>
              </p:ext>
            </p:extLst>
          </p:nvPr>
        </p:nvGraphicFramePr>
        <p:xfrm>
          <a:off x="3134135" y="3321639"/>
          <a:ext cx="2087563" cy="950913"/>
        </p:xfrm>
        <a:graphic>
          <a:graphicData uri="http://schemas.openxmlformats.org/presentationml/2006/ole">
            <mc:AlternateContent xmlns:mc="http://schemas.openxmlformats.org/markup-compatibility/2006">
              <mc:Choice xmlns:v="urn:schemas-microsoft-com:vml" Requires="v">
                <p:oleObj name="Equation" r:id="rId2" imgW="2088113" imgH="951042" progId="Equation.DSMT4">
                  <p:embed/>
                </p:oleObj>
              </mc:Choice>
              <mc:Fallback>
                <p:oleObj name="Equation" r:id="rId2" imgW="2088113" imgH="951042" progId="Equation.DSMT4">
                  <p:embed/>
                  <p:pic>
                    <p:nvPicPr>
                      <p:cNvPr id="0" name=""/>
                      <p:cNvPicPr/>
                      <p:nvPr/>
                    </p:nvPicPr>
                    <p:blipFill>
                      <a:blip r:embed="rId3"/>
                      <a:stretch>
                        <a:fillRect/>
                      </a:stretch>
                    </p:blipFill>
                    <p:spPr>
                      <a:xfrm>
                        <a:off x="3134135" y="3321639"/>
                        <a:ext cx="2087563" cy="950913"/>
                      </a:xfrm>
                      <a:prstGeom prst="rect">
                        <a:avLst/>
                      </a:prstGeom>
                    </p:spPr>
                  </p:pic>
                </p:oleObj>
              </mc:Fallback>
            </mc:AlternateContent>
          </a:graphicData>
        </a:graphic>
      </p:graphicFrame>
      <p:sp>
        <p:nvSpPr>
          <p:cNvPr id="7" name="Text Box 7">
            <a:extLst>
              <a:ext uri="{FF2B5EF4-FFF2-40B4-BE49-F238E27FC236}">
                <a16:creationId xmlns:a16="http://schemas.microsoft.com/office/drawing/2014/main" id="{01986732-D97C-4752-70C2-C64BFCD70504}"/>
              </a:ext>
            </a:extLst>
          </p:cNvPr>
          <p:cNvSpPr txBox="1">
            <a:spLocks noChangeArrowheads="1"/>
          </p:cNvSpPr>
          <p:nvPr/>
        </p:nvSpPr>
        <p:spPr bwMode="auto">
          <a:xfrm>
            <a:off x="3042112" y="4520753"/>
            <a:ext cx="1504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is minimized </a:t>
            </a:r>
          </a:p>
        </p:txBody>
      </p:sp>
    </p:spTree>
    <p:extLst>
      <p:ext uri="{BB962C8B-B14F-4D97-AF65-F5344CB8AC3E}">
        <p14:creationId xmlns:p14="http://schemas.microsoft.com/office/powerpoint/2010/main" val="2477398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97FDF-9E94-9FB9-363D-6ADA054CB33F}"/>
              </a:ext>
            </a:extLst>
          </p:cNvPr>
          <p:cNvSpPr>
            <a:spLocks noGrp="1"/>
          </p:cNvSpPr>
          <p:nvPr>
            <p:ph type="title"/>
          </p:nvPr>
        </p:nvSpPr>
        <p:spPr/>
        <p:txBody>
          <a:bodyPr/>
          <a:lstStyle/>
          <a:p>
            <a:r>
              <a:rPr lang="en-US" dirty="0"/>
              <a:t>Special Types of Optimization problems </a:t>
            </a:r>
          </a:p>
        </p:txBody>
      </p:sp>
      <p:sp>
        <p:nvSpPr>
          <p:cNvPr id="3" name="Content Placeholder 2">
            <a:extLst>
              <a:ext uri="{FF2B5EF4-FFF2-40B4-BE49-F238E27FC236}">
                <a16:creationId xmlns:a16="http://schemas.microsoft.com/office/drawing/2014/main" id="{98C2C5B9-E1B4-39D1-2859-07B708162797}"/>
              </a:ext>
            </a:extLst>
          </p:cNvPr>
          <p:cNvSpPr>
            <a:spLocks noGrp="1"/>
          </p:cNvSpPr>
          <p:nvPr>
            <p:ph idx="1"/>
          </p:nvPr>
        </p:nvSpPr>
        <p:spPr/>
        <p:txBody>
          <a:bodyPr>
            <a:normAutofit/>
          </a:bodyPr>
          <a:lstStyle/>
          <a:p>
            <a:pPr>
              <a:buFont typeface="Wingdings" panose="05000000000000000000" pitchFamily="2" charset="2"/>
              <a:buChar char="q"/>
            </a:pPr>
            <a:r>
              <a:rPr lang="en-US" altLang="zh-TW" sz="2400" b="1" dirty="0"/>
              <a:t>Dynamic Programming (DP)</a:t>
            </a:r>
            <a:endParaRPr lang="en-US" sz="2400" b="1" dirty="0"/>
          </a:p>
        </p:txBody>
      </p:sp>
      <p:sp>
        <p:nvSpPr>
          <p:cNvPr id="4" name="Slide Number Placeholder 3">
            <a:extLst>
              <a:ext uri="{FF2B5EF4-FFF2-40B4-BE49-F238E27FC236}">
                <a16:creationId xmlns:a16="http://schemas.microsoft.com/office/drawing/2014/main" id="{62CAE4D7-D22A-88E7-A37B-418F710E2311}"/>
              </a:ext>
            </a:extLst>
          </p:cNvPr>
          <p:cNvSpPr>
            <a:spLocks noGrp="1"/>
          </p:cNvSpPr>
          <p:nvPr>
            <p:ph type="sldNum" sz="quarter" idx="12"/>
          </p:nvPr>
        </p:nvSpPr>
        <p:spPr/>
        <p:txBody>
          <a:bodyPr/>
          <a:lstStyle/>
          <a:p>
            <a:fld id="{5FD5B158-82B0-4C87-A3EC-7455924DF160}" type="slidenum">
              <a:rPr lang="en-US" smtClean="0"/>
              <a:t>16</a:t>
            </a:fld>
            <a:endParaRPr lang="en-US"/>
          </a:p>
        </p:txBody>
      </p:sp>
      <p:sp>
        <p:nvSpPr>
          <p:cNvPr id="5" name="Text Box 4">
            <a:extLst>
              <a:ext uri="{FF2B5EF4-FFF2-40B4-BE49-F238E27FC236}">
                <a16:creationId xmlns:a16="http://schemas.microsoft.com/office/drawing/2014/main" id="{85698218-0F00-D296-7DD2-4D9E0FA5D713}"/>
              </a:ext>
            </a:extLst>
          </p:cNvPr>
          <p:cNvSpPr txBox="1">
            <a:spLocks noChangeArrowheads="1"/>
          </p:cNvSpPr>
          <p:nvPr/>
        </p:nvSpPr>
        <p:spPr bwMode="auto">
          <a:xfrm>
            <a:off x="1352396" y="2241346"/>
            <a:ext cx="95319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Here, </a:t>
            </a:r>
            <a:r>
              <a:rPr lang="en-US" altLang="zh-TW" i="1" dirty="0"/>
              <a:t>x</a:t>
            </a:r>
            <a:r>
              <a:rPr lang="en-US" altLang="zh-TW" i="1" baseline="-25000" dirty="0"/>
              <a:t>i</a:t>
            </a:r>
            <a:r>
              <a:rPr lang="en-US" altLang="zh-TW" dirty="0"/>
              <a:t> represents the state of the system in the </a:t>
            </a:r>
            <a:r>
              <a:rPr lang="en-US" altLang="zh-TW" i="1" dirty="0" err="1"/>
              <a:t>ith</a:t>
            </a:r>
            <a:r>
              <a:rPr lang="en-US" altLang="zh-TW" dirty="0"/>
              <a:t> stage and </a:t>
            </a:r>
            <a:r>
              <a:rPr lang="en-US" altLang="zh-TW" i="1" dirty="0" err="1"/>
              <a:t>u</a:t>
            </a:r>
            <a:r>
              <a:rPr lang="en-US" altLang="zh-TW" i="1" baseline="-25000" dirty="0" err="1"/>
              <a:t>i</a:t>
            </a:r>
            <a:r>
              <a:rPr lang="en-US" altLang="zh-TW" dirty="0"/>
              <a:t> is some decision variable, i.e. some decision taken at the </a:t>
            </a:r>
            <a:r>
              <a:rPr lang="en-US" altLang="zh-TW" i="1" dirty="0" err="1"/>
              <a:t>ith</a:t>
            </a:r>
            <a:r>
              <a:rPr lang="en-US" altLang="zh-TW" dirty="0"/>
              <a:t> stage.  The values of </a:t>
            </a:r>
            <a:r>
              <a:rPr lang="en-US" altLang="zh-TW" i="1" dirty="0"/>
              <a:t>x</a:t>
            </a:r>
            <a:r>
              <a:rPr lang="en-US" altLang="zh-TW" i="1" baseline="-25000" dirty="0"/>
              <a:t>i </a:t>
            </a:r>
            <a:r>
              <a:rPr lang="en-US" altLang="zh-TW" dirty="0"/>
              <a:t>and </a:t>
            </a:r>
            <a:r>
              <a:rPr lang="en-US" altLang="zh-TW" i="1" dirty="0" err="1"/>
              <a:t>u</a:t>
            </a:r>
            <a:r>
              <a:rPr lang="en-US" altLang="zh-TW" i="1" baseline="-25000" dirty="0" err="1"/>
              <a:t>i</a:t>
            </a:r>
            <a:r>
              <a:rPr lang="en-US" altLang="zh-TW" dirty="0"/>
              <a:t> determine uniquely </a:t>
            </a:r>
            <a:r>
              <a:rPr lang="en-US" altLang="zh-TW" i="1" dirty="0"/>
              <a:t>x</a:t>
            </a:r>
            <a:r>
              <a:rPr lang="en-US" altLang="zh-TW" i="1" baseline="-25000" dirty="0"/>
              <a:t>i+1</a:t>
            </a:r>
            <a:r>
              <a:rPr lang="en-US" altLang="zh-TW" dirty="0"/>
              <a:t>:</a:t>
            </a:r>
          </a:p>
        </p:txBody>
      </p:sp>
      <p:graphicFrame>
        <p:nvGraphicFramePr>
          <p:cNvPr id="6" name="Object 5">
            <a:extLst>
              <a:ext uri="{FF2B5EF4-FFF2-40B4-BE49-F238E27FC236}">
                <a16:creationId xmlns:a16="http://schemas.microsoft.com/office/drawing/2014/main" id="{67C9E6CB-2273-93B8-EAD7-2BD7FE280B26}"/>
              </a:ext>
            </a:extLst>
          </p:cNvPr>
          <p:cNvGraphicFramePr>
            <a:graphicFrameLocks noChangeAspect="1"/>
          </p:cNvGraphicFramePr>
          <p:nvPr>
            <p:extLst>
              <p:ext uri="{D42A27DB-BD31-4B8C-83A1-F6EECF244321}">
                <p14:modId xmlns:p14="http://schemas.microsoft.com/office/powerpoint/2010/main" val="1864684554"/>
              </p:ext>
            </p:extLst>
          </p:nvPr>
        </p:nvGraphicFramePr>
        <p:xfrm>
          <a:off x="4511675" y="3107870"/>
          <a:ext cx="1584325" cy="350837"/>
        </p:xfrm>
        <a:graphic>
          <a:graphicData uri="http://schemas.openxmlformats.org/presentationml/2006/ole">
            <mc:AlternateContent xmlns:mc="http://schemas.openxmlformats.org/markup-compatibility/2006">
              <mc:Choice xmlns:v="urn:schemas-microsoft-com:vml" Requires="v">
                <p:oleObj name="Equation" r:id="rId2" imgW="1585066" imgH="350782" progId="Equation.DSMT4">
                  <p:embed/>
                </p:oleObj>
              </mc:Choice>
              <mc:Fallback>
                <p:oleObj name="Equation" r:id="rId2" imgW="1585066" imgH="350782" progId="Equation.DSMT4">
                  <p:embed/>
                  <p:pic>
                    <p:nvPicPr>
                      <p:cNvPr id="0" name=""/>
                      <p:cNvPicPr/>
                      <p:nvPr/>
                    </p:nvPicPr>
                    <p:blipFill>
                      <a:blip r:embed="rId3"/>
                      <a:stretch>
                        <a:fillRect/>
                      </a:stretch>
                    </p:blipFill>
                    <p:spPr>
                      <a:xfrm>
                        <a:off x="4511675" y="3107870"/>
                        <a:ext cx="1584325" cy="350837"/>
                      </a:xfrm>
                      <a:prstGeom prst="rect">
                        <a:avLst/>
                      </a:prstGeom>
                    </p:spPr>
                  </p:pic>
                </p:oleObj>
              </mc:Fallback>
            </mc:AlternateContent>
          </a:graphicData>
        </a:graphic>
      </p:graphicFrame>
      <p:sp>
        <p:nvSpPr>
          <p:cNvPr id="7" name="Text Box 7">
            <a:extLst>
              <a:ext uri="{FF2B5EF4-FFF2-40B4-BE49-F238E27FC236}">
                <a16:creationId xmlns:a16="http://schemas.microsoft.com/office/drawing/2014/main" id="{536E8FC5-D4EB-4045-C9B7-CC3FE61347B4}"/>
              </a:ext>
            </a:extLst>
          </p:cNvPr>
          <p:cNvSpPr txBox="1">
            <a:spLocks noChangeArrowheads="1"/>
          </p:cNvSpPr>
          <p:nvPr/>
        </p:nvSpPr>
        <p:spPr bwMode="auto">
          <a:xfrm>
            <a:off x="1426599" y="4076700"/>
            <a:ext cx="95319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dirty="0"/>
              <a:t>Here, it is assumed that </a:t>
            </a:r>
            <a:r>
              <a:rPr lang="en-US" altLang="zh-TW" i="1" dirty="0"/>
              <a:t>x0</a:t>
            </a:r>
            <a:r>
              <a:rPr lang="en-US" altLang="zh-TW" dirty="0"/>
              <a:t> is known, when the state of the system changes from </a:t>
            </a:r>
            <a:r>
              <a:rPr lang="en-US" altLang="zh-TW" i="1" dirty="0"/>
              <a:t>xi</a:t>
            </a:r>
            <a:r>
              <a:rPr lang="en-US" altLang="zh-TW" dirty="0"/>
              <a:t> to </a:t>
            </a:r>
            <a:r>
              <a:rPr lang="en-US" altLang="zh-TW" i="1" dirty="0"/>
              <a:t>xi+1</a:t>
            </a:r>
            <a:r>
              <a:rPr lang="en-US" altLang="zh-TW" dirty="0"/>
              <a:t>, there is an improvement or degradation in an objective function as cost or profit. Let this be </a:t>
            </a:r>
            <a:r>
              <a:rPr lang="en-US" altLang="zh-TW" i="1" dirty="0"/>
              <a:t>J=f(</a:t>
            </a:r>
            <a:r>
              <a:rPr lang="en-US" altLang="zh-TW" i="1" dirty="0" err="1"/>
              <a:t>x</a:t>
            </a:r>
            <a:r>
              <a:rPr lang="en-US" altLang="zh-TW" i="1" baseline="-25000" dirty="0" err="1"/>
              <a:t>i</a:t>
            </a:r>
            <a:r>
              <a:rPr lang="en-US" altLang="zh-TW" i="1" dirty="0" err="1"/>
              <a:t>,u</a:t>
            </a:r>
            <a:r>
              <a:rPr lang="en-US" altLang="zh-TW" i="1" baseline="-25000" dirty="0" err="1"/>
              <a:t>i</a:t>
            </a:r>
            <a:r>
              <a:rPr lang="en-US" altLang="zh-TW" i="1" dirty="0" err="1"/>
              <a:t>,i</a:t>
            </a:r>
            <a:r>
              <a:rPr lang="en-US" altLang="zh-TW" i="1" dirty="0"/>
              <a:t>)</a:t>
            </a:r>
            <a:r>
              <a:rPr lang="en-US" altLang="zh-TW" dirty="0"/>
              <a:t> , then the cumulative profit over N stages is:  </a:t>
            </a:r>
          </a:p>
        </p:txBody>
      </p:sp>
      <p:graphicFrame>
        <p:nvGraphicFramePr>
          <p:cNvPr id="8" name="Object 7">
            <a:extLst>
              <a:ext uri="{FF2B5EF4-FFF2-40B4-BE49-F238E27FC236}">
                <a16:creationId xmlns:a16="http://schemas.microsoft.com/office/drawing/2014/main" id="{3E15F968-7A4F-558E-0D1E-899F25EFB8FD}"/>
              </a:ext>
            </a:extLst>
          </p:cNvPr>
          <p:cNvGraphicFramePr>
            <a:graphicFrameLocks noChangeAspect="1"/>
          </p:cNvGraphicFramePr>
          <p:nvPr>
            <p:extLst>
              <p:ext uri="{D42A27DB-BD31-4B8C-83A1-F6EECF244321}">
                <p14:modId xmlns:p14="http://schemas.microsoft.com/office/powerpoint/2010/main" val="3243487089"/>
              </p:ext>
            </p:extLst>
          </p:nvPr>
        </p:nvGraphicFramePr>
        <p:xfrm>
          <a:off x="4368800" y="5214320"/>
          <a:ext cx="1727200" cy="633413"/>
        </p:xfrm>
        <a:graphic>
          <a:graphicData uri="http://schemas.openxmlformats.org/presentationml/2006/ole">
            <mc:AlternateContent xmlns:mc="http://schemas.openxmlformats.org/markup-compatibility/2006">
              <mc:Choice xmlns:v="urn:schemas-microsoft-com:vml" Requires="v">
                <p:oleObj name="Equation" r:id="rId4" imgW="1726840" imgH="632706" progId="Equation.DSMT4">
                  <p:embed/>
                </p:oleObj>
              </mc:Choice>
              <mc:Fallback>
                <p:oleObj name="Equation" r:id="rId4" imgW="1726840" imgH="632706" progId="Equation.DSMT4">
                  <p:embed/>
                  <p:pic>
                    <p:nvPicPr>
                      <p:cNvPr id="0" name=""/>
                      <p:cNvPicPr/>
                      <p:nvPr/>
                    </p:nvPicPr>
                    <p:blipFill>
                      <a:blip r:embed="rId5"/>
                      <a:stretch>
                        <a:fillRect/>
                      </a:stretch>
                    </p:blipFill>
                    <p:spPr>
                      <a:xfrm>
                        <a:off x="4368800" y="5214320"/>
                        <a:ext cx="1727200" cy="633413"/>
                      </a:xfrm>
                      <a:prstGeom prst="rect">
                        <a:avLst/>
                      </a:prstGeom>
                    </p:spPr>
                  </p:pic>
                </p:oleObj>
              </mc:Fallback>
            </mc:AlternateContent>
          </a:graphicData>
        </a:graphic>
      </p:graphicFrame>
    </p:spTree>
    <p:extLst>
      <p:ext uri="{BB962C8B-B14F-4D97-AF65-F5344CB8AC3E}">
        <p14:creationId xmlns:p14="http://schemas.microsoft.com/office/powerpoint/2010/main" val="3219696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E00C5-D64F-DA40-ACBA-4B30DD0A8A33}"/>
              </a:ext>
            </a:extLst>
          </p:cNvPr>
          <p:cNvSpPr>
            <a:spLocks noGrp="1"/>
          </p:cNvSpPr>
          <p:nvPr>
            <p:ph type="title"/>
          </p:nvPr>
        </p:nvSpPr>
        <p:spPr/>
        <p:txBody>
          <a:bodyPr/>
          <a:lstStyle/>
          <a:p>
            <a:r>
              <a:rPr lang="en-US" dirty="0"/>
              <a:t>Special Types of Optimization problems </a:t>
            </a:r>
          </a:p>
        </p:txBody>
      </p:sp>
      <p:sp>
        <p:nvSpPr>
          <p:cNvPr id="3" name="Content Placeholder 2">
            <a:extLst>
              <a:ext uri="{FF2B5EF4-FFF2-40B4-BE49-F238E27FC236}">
                <a16:creationId xmlns:a16="http://schemas.microsoft.com/office/drawing/2014/main" id="{6EBC4A0A-8BB6-0912-463F-5AC0D0F5C257}"/>
              </a:ext>
            </a:extLst>
          </p:cNvPr>
          <p:cNvSpPr>
            <a:spLocks noGrp="1"/>
          </p:cNvSpPr>
          <p:nvPr>
            <p:ph idx="1"/>
          </p:nvPr>
        </p:nvSpPr>
        <p:spPr/>
        <p:txBody>
          <a:bodyPr>
            <a:normAutofit/>
          </a:bodyPr>
          <a:lstStyle/>
          <a:p>
            <a:r>
              <a:rPr lang="en-US" sz="2400" dirty="0"/>
              <a:t>As x</a:t>
            </a:r>
            <a:r>
              <a:rPr lang="en-US" sz="2400" baseline="-25000" dirty="0"/>
              <a:t>0</a:t>
            </a:r>
            <a:r>
              <a:rPr lang="en-US" sz="2400" dirty="0"/>
              <a:t> is fixed the magnitude of the cumulative profit  is determined only by the various decisions taken </a:t>
            </a:r>
            <a:r>
              <a:rPr lang="en-US" sz="2400" dirty="0" err="1"/>
              <a:t>u</a:t>
            </a:r>
            <a:r>
              <a:rPr lang="en-US" sz="2400" baseline="-25000" dirty="0" err="1"/>
              <a:t>i</a:t>
            </a:r>
            <a:r>
              <a:rPr lang="en-US" sz="2400" dirty="0"/>
              <a:t> (i=0 to N-1).   Hence </a:t>
            </a:r>
            <a:r>
              <a:rPr lang="en-US" sz="2400" dirty="0" err="1"/>
              <a:t>Jc</a:t>
            </a:r>
            <a:r>
              <a:rPr lang="en-US" sz="2400" dirty="0"/>
              <a:t> is to be optimized with respect to </a:t>
            </a:r>
            <a:r>
              <a:rPr lang="en-US" sz="2400" dirty="0" err="1"/>
              <a:t>u</a:t>
            </a:r>
            <a:r>
              <a:rPr lang="en-US" sz="2400" baseline="-25000" dirty="0" err="1"/>
              <a:t>i</a:t>
            </a:r>
            <a:r>
              <a:rPr lang="en-US" sz="2400" dirty="0"/>
              <a:t>.  </a:t>
            </a:r>
          </a:p>
          <a:p>
            <a:r>
              <a:rPr lang="en-US" sz="2400" dirty="0"/>
              <a:t>Now, constraints may be imposed on x</a:t>
            </a:r>
            <a:r>
              <a:rPr lang="en-US" sz="2400" baseline="-25000" dirty="0"/>
              <a:t>i </a:t>
            </a:r>
            <a:r>
              <a:rPr lang="en-US" sz="2400" dirty="0"/>
              <a:t>and </a:t>
            </a:r>
            <a:r>
              <a:rPr lang="en-US" sz="2400" dirty="0" err="1"/>
              <a:t>u</a:t>
            </a:r>
            <a:r>
              <a:rPr lang="en-US" sz="2400" baseline="-25000" dirty="0" err="1"/>
              <a:t>i</a:t>
            </a:r>
            <a:r>
              <a:rPr lang="en-US" sz="2400" dirty="0"/>
              <a:t>.  This constitutes a dynamic programming (DP)</a:t>
            </a:r>
          </a:p>
          <a:p>
            <a:endParaRPr lang="en-US" sz="2400" dirty="0"/>
          </a:p>
        </p:txBody>
      </p:sp>
      <p:sp>
        <p:nvSpPr>
          <p:cNvPr id="4" name="Slide Number Placeholder 3">
            <a:extLst>
              <a:ext uri="{FF2B5EF4-FFF2-40B4-BE49-F238E27FC236}">
                <a16:creationId xmlns:a16="http://schemas.microsoft.com/office/drawing/2014/main" id="{EF278247-C0C4-239F-F157-C68EEDB6127B}"/>
              </a:ext>
            </a:extLst>
          </p:cNvPr>
          <p:cNvSpPr>
            <a:spLocks noGrp="1"/>
          </p:cNvSpPr>
          <p:nvPr>
            <p:ph type="sldNum" sz="quarter" idx="12"/>
          </p:nvPr>
        </p:nvSpPr>
        <p:spPr/>
        <p:txBody>
          <a:bodyPr/>
          <a:lstStyle/>
          <a:p>
            <a:fld id="{5FD5B158-82B0-4C87-A3EC-7455924DF160}" type="slidenum">
              <a:rPr lang="en-US" smtClean="0"/>
              <a:t>17</a:t>
            </a:fld>
            <a:endParaRPr lang="en-US"/>
          </a:p>
        </p:txBody>
      </p:sp>
    </p:spTree>
    <p:extLst>
      <p:ext uri="{BB962C8B-B14F-4D97-AF65-F5344CB8AC3E}">
        <p14:creationId xmlns:p14="http://schemas.microsoft.com/office/powerpoint/2010/main" val="298445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7FD45-DB46-0F3A-7A28-3E05CBA563E8}"/>
              </a:ext>
            </a:extLst>
          </p:cNvPr>
          <p:cNvSpPr>
            <a:spLocks noGrp="1"/>
          </p:cNvSpPr>
          <p:nvPr>
            <p:ph type="title"/>
          </p:nvPr>
        </p:nvSpPr>
        <p:spPr/>
        <p:txBody>
          <a:bodyPr/>
          <a:lstStyle/>
          <a:p>
            <a:r>
              <a:rPr lang="en-US" dirty="0"/>
              <a:t>Special Types of Optimization problems </a:t>
            </a:r>
          </a:p>
        </p:txBody>
      </p:sp>
      <p:sp>
        <p:nvSpPr>
          <p:cNvPr id="3" name="Content Placeholder 2">
            <a:extLst>
              <a:ext uri="{FF2B5EF4-FFF2-40B4-BE49-F238E27FC236}">
                <a16:creationId xmlns:a16="http://schemas.microsoft.com/office/drawing/2014/main" id="{0E186E2B-B58B-3FAD-CBE7-228C1BBF5E79}"/>
              </a:ext>
            </a:extLst>
          </p:cNvPr>
          <p:cNvSpPr>
            <a:spLocks noGrp="1"/>
          </p:cNvSpPr>
          <p:nvPr>
            <p:ph idx="1"/>
          </p:nvPr>
        </p:nvSpPr>
        <p:spPr/>
        <p:txBody>
          <a:bodyPr/>
          <a:lstStyle/>
          <a:p>
            <a:pPr>
              <a:buFont typeface="Wingdings" panose="05000000000000000000" pitchFamily="2" charset="2"/>
              <a:buChar char="q"/>
            </a:pPr>
            <a:r>
              <a:rPr lang="en-US" altLang="zh-TW" sz="2400" b="1" dirty="0"/>
              <a:t> Integer Programming (IP):  </a:t>
            </a:r>
          </a:p>
          <a:p>
            <a:r>
              <a:rPr lang="en-US" altLang="zh-TW" dirty="0"/>
              <a:t>Some of the variables are constrained to take integer values</a:t>
            </a:r>
            <a:endParaRPr lang="en-US" dirty="0"/>
          </a:p>
        </p:txBody>
      </p:sp>
      <p:sp>
        <p:nvSpPr>
          <p:cNvPr id="4" name="Slide Number Placeholder 3">
            <a:extLst>
              <a:ext uri="{FF2B5EF4-FFF2-40B4-BE49-F238E27FC236}">
                <a16:creationId xmlns:a16="http://schemas.microsoft.com/office/drawing/2014/main" id="{A1AFB70D-E922-1638-4718-891B62AB4780}"/>
              </a:ext>
            </a:extLst>
          </p:cNvPr>
          <p:cNvSpPr>
            <a:spLocks noGrp="1"/>
          </p:cNvSpPr>
          <p:nvPr>
            <p:ph type="sldNum" sz="quarter" idx="12"/>
          </p:nvPr>
        </p:nvSpPr>
        <p:spPr/>
        <p:txBody>
          <a:bodyPr/>
          <a:lstStyle/>
          <a:p>
            <a:fld id="{5FD5B158-82B0-4C87-A3EC-7455924DF160}" type="slidenum">
              <a:rPr lang="en-US" smtClean="0"/>
              <a:t>18</a:t>
            </a:fld>
            <a:endParaRPr lang="en-US"/>
          </a:p>
        </p:txBody>
      </p:sp>
    </p:spTree>
    <p:extLst>
      <p:ext uri="{BB962C8B-B14F-4D97-AF65-F5344CB8AC3E}">
        <p14:creationId xmlns:p14="http://schemas.microsoft.com/office/powerpoint/2010/main" val="1476343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DB191-A1C4-094B-5DAC-1A97E5BFA344}"/>
              </a:ext>
            </a:extLst>
          </p:cNvPr>
          <p:cNvSpPr>
            <a:spLocks noGrp="1"/>
          </p:cNvSpPr>
          <p:nvPr>
            <p:ph type="title"/>
          </p:nvPr>
        </p:nvSpPr>
        <p:spPr/>
        <p:txBody>
          <a:bodyPr/>
          <a:lstStyle/>
          <a:p>
            <a:r>
              <a:rPr lang="en-US" dirty="0"/>
              <a:t>The Iterative Optimization Procedure – </a:t>
            </a:r>
            <a:br>
              <a:rPr lang="en-US" dirty="0"/>
            </a:br>
            <a:r>
              <a:rPr lang="en-US" dirty="0"/>
              <a:t>A Basic Idea</a:t>
            </a:r>
          </a:p>
        </p:txBody>
      </p:sp>
      <p:sp>
        <p:nvSpPr>
          <p:cNvPr id="3" name="Content Placeholder 2">
            <a:extLst>
              <a:ext uri="{FF2B5EF4-FFF2-40B4-BE49-F238E27FC236}">
                <a16:creationId xmlns:a16="http://schemas.microsoft.com/office/drawing/2014/main" id="{26D2BF84-73DA-CA58-58C3-03306C3E99E3}"/>
              </a:ext>
            </a:extLst>
          </p:cNvPr>
          <p:cNvSpPr>
            <a:spLocks noGrp="1"/>
          </p:cNvSpPr>
          <p:nvPr>
            <p:ph idx="1"/>
          </p:nvPr>
        </p:nvSpPr>
        <p:spPr/>
        <p:txBody>
          <a:bodyPr>
            <a:normAutofit/>
          </a:bodyPr>
          <a:lstStyle/>
          <a:p>
            <a:r>
              <a:rPr lang="en-US" altLang="zh-TW" sz="2800" dirty="0"/>
              <a:t>Optimization is basically performed in a fashion of iterative optimization.  We give an initial point</a:t>
            </a:r>
            <a:r>
              <a:rPr lang="en-US" altLang="zh-TW" sz="2800" b="1" dirty="0"/>
              <a:t> x</a:t>
            </a:r>
            <a:r>
              <a:rPr lang="en-US" altLang="zh-TW" sz="2800" dirty="0"/>
              <a:t>0, and a direction </a:t>
            </a:r>
            <a:r>
              <a:rPr lang="en-US" altLang="zh-TW" sz="2800" b="1" dirty="0"/>
              <a:t>s</a:t>
            </a:r>
            <a:r>
              <a:rPr lang="en-US" altLang="zh-TW" sz="2800" dirty="0"/>
              <a:t>, and then perform the following line search:</a:t>
            </a:r>
          </a:p>
          <a:p>
            <a:pPr>
              <a:buNone/>
            </a:pPr>
            <a:endParaRPr lang="en-US" altLang="zh-TW" sz="2800" dirty="0"/>
          </a:p>
          <a:p>
            <a:pPr>
              <a:buNone/>
            </a:pPr>
            <a:r>
              <a:rPr lang="en-US" altLang="zh-TW" sz="2800" dirty="0"/>
              <a:t>where </a:t>
            </a:r>
            <a:r>
              <a:rPr lang="en-US" altLang="zh-TW" sz="2800" dirty="0">
                <a:sym typeface="Symbol" panose="05050102010706020507" pitchFamily="18" charset="2"/>
              </a:rPr>
              <a:t></a:t>
            </a:r>
            <a:r>
              <a:rPr lang="en-US" altLang="zh-TW" sz="2800" dirty="0"/>
              <a:t>* is the optimal point for the objective function and satisfies all the constraints.  Then we start from </a:t>
            </a:r>
            <a:r>
              <a:rPr lang="en-US" altLang="zh-TW" sz="2800" b="1" dirty="0"/>
              <a:t>x</a:t>
            </a:r>
            <a:r>
              <a:rPr lang="en-US" altLang="zh-TW" sz="2800" dirty="0"/>
              <a:t>1 and find the other direction </a:t>
            </a:r>
            <a:r>
              <a:rPr lang="en-US" altLang="zh-TW" sz="2800" b="1" dirty="0"/>
              <a:t>s</a:t>
            </a:r>
            <a:r>
              <a:rPr lang="en-US" altLang="zh-TW" sz="2800" dirty="0"/>
              <a:t>’, and perform a new line search until the optimum is reached.</a:t>
            </a:r>
          </a:p>
          <a:p>
            <a:endParaRPr lang="en-US" sz="2800" dirty="0"/>
          </a:p>
        </p:txBody>
      </p:sp>
      <p:sp>
        <p:nvSpPr>
          <p:cNvPr id="4" name="Slide Number Placeholder 3">
            <a:extLst>
              <a:ext uri="{FF2B5EF4-FFF2-40B4-BE49-F238E27FC236}">
                <a16:creationId xmlns:a16="http://schemas.microsoft.com/office/drawing/2014/main" id="{31557F28-6812-476E-0689-882C0D87C551}"/>
              </a:ext>
            </a:extLst>
          </p:cNvPr>
          <p:cNvSpPr>
            <a:spLocks noGrp="1"/>
          </p:cNvSpPr>
          <p:nvPr>
            <p:ph type="sldNum" sz="quarter" idx="12"/>
          </p:nvPr>
        </p:nvSpPr>
        <p:spPr/>
        <p:txBody>
          <a:bodyPr/>
          <a:lstStyle/>
          <a:p>
            <a:fld id="{5FD5B158-82B0-4C87-A3EC-7455924DF160}" type="slidenum">
              <a:rPr lang="en-US" smtClean="0"/>
              <a:t>19</a:t>
            </a:fld>
            <a:endParaRPr lang="en-US"/>
          </a:p>
        </p:txBody>
      </p:sp>
      <p:graphicFrame>
        <p:nvGraphicFramePr>
          <p:cNvPr id="5" name="Object 4">
            <a:extLst>
              <a:ext uri="{FF2B5EF4-FFF2-40B4-BE49-F238E27FC236}">
                <a16:creationId xmlns:a16="http://schemas.microsoft.com/office/drawing/2014/main" id="{5510E6E2-2665-0612-CA92-B9DE86B5FBCF}"/>
              </a:ext>
            </a:extLst>
          </p:cNvPr>
          <p:cNvGraphicFramePr>
            <a:graphicFrameLocks noChangeAspect="1"/>
          </p:cNvGraphicFramePr>
          <p:nvPr>
            <p:extLst>
              <p:ext uri="{D42A27DB-BD31-4B8C-83A1-F6EECF244321}">
                <p14:modId xmlns:p14="http://schemas.microsoft.com/office/powerpoint/2010/main" val="362585347"/>
              </p:ext>
            </p:extLst>
          </p:nvPr>
        </p:nvGraphicFramePr>
        <p:xfrm>
          <a:off x="4320817" y="2969342"/>
          <a:ext cx="2729171" cy="683496"/>
        </p:xfrm>
        <a:graphic>
          <a:graphicData uri="http://schemas.openxmlformats.org/presentationml/2006/ole">
            <mc:AlternateContent xmlns:mc="http://schemas.openxmlformats.org/markup-compatibility/2006">
              <mc:Choice xmlns:v="urn:schemas-microsoft-com:vml" Requires="v">
                <p:oleObj name="Equation" r:id="rId2" imgW="1799886" imgH="451366" progId="Equation.DSMT4">
                  <p:embed/>
                </p:oleObj>
              </mc:Choice>
              <mc:Fallback>
                <p:oleObj name="Equation" r:id="rId2" imgW="1799886" imgH="451366" progId="Equation.DSMT4">
                  <p:embed/>
                  <p:pic>
                    <p:nvPicPr>
                      <p:cNvPr id="0" name=""/>
                      <p:cNvPicPr/>
                      <p:nvPr/>
                    </p:nvPicPr>
                    <p:blipFill>
                      <a:blip r:embed="rId3"/>
                      <a:stretch>
                        <a:fillRect/>
                      </a:stretch>
                    </p:blipFill>
                    <p:spPr>
                      <a:xfrm>
                        <a:off x="4320817" y="2969342"/>
                        <a:ext cx="2729171" cy="683496"/>
                      </a:xfrm>
                      <a:prstGeom prst="rect">
                        <a:avLst/>
                      </a:prstGeom>
                    </p:spPr>
                  </p:pic>
                </p:oleObj>
              </mc:Fallback>
            </mc:AlternateContent>
          </a:graphicData>
        </a:graphic>
      </p:graphicFrame>
    </p:spTree>
    <p:extLst>
      <p:ext uri="{BB962C8B-B14F-4D97-AF65-F5344CB8AC3E}">
        <p14:creationId xmlns:p14="http://schemas.microsoft.com/office/powerpoint/2010/main" val="1324555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CA76-3A03-1940-E630-B72EF855223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E66BE330-BF37-6B4B-B9D4-2978EFEE3349}"/>
              </a:ext>
            </a:extLst>
          </p:cNvPr>
          <p:cNvSpPr>
            <a:spLocks noGrp="1"/>
          </p:cNvSpPr>
          <p:nvPr>
            <p:ph idx="1"/>
          </p:nvPr>
        </p:nvSpPr>
        <p:spPr/>
        <p:txBody>
          <a:bodyPr/>
          <a:lstStyle/>
          <a:p>
            <a:r>
              <a:rPr lang="en-US" dirty="0"/>
              <a:t>Contour Plot</a:t>
            </a:r>
          </a:p>
        </p:txBody>
      </p:sp>
      <p:sp>
        <p:nvSpPr>
          <p:cNvPr id="4" name="Slide Number Placeholder 3">
            <a:extLst>
              <a:ext uri="{FF2B5EF4-FFF2-40B4-BE49-F238E27FC236}">
                <a16:creationId xmlns:a16="http://schemas.microsoft.com/office/drawing/2014/main" id="{C56B37A0-3DD3-A0C2-C0A6-946EA1B88C95}"/>
              </a:ext>
            </a:extLst>
          </p:cNvPr>
          <p:cNvSpPr>
            <a:spLocks noGrp="1"/>
          </p:cNvSpPr>
          <p:nvPr>
            <p:ph type="sldNum" sz="quarter" idx="12"/>
          </p:nvPr>
        </p:nvSpPr>
        <p:spPr/>
        <p:txBody>
          <a:bodyPr/>
          <a:lstStyle/>
          <a:p>
            <a:fld id="{5FD5B158-82B0-4C87-A3EC-7455924DF160}" type="slidenum">
              <a:rPr lang="en-US" smtClean="0"/>
              <a:t>20</a:t>
            </a:fld>
            <a:endParaRPr lang="en-US"/>
          </a:p>
        </p:txBody>
      </p:sp>
      <p:pic>
        <p:nvPicPr>
          <p:cNvPr id="5" name="Picture 4">
            <a:extLst>
              <a:ext uri="{FF2B5EF4-FFF2-40B4-BE49-F238E27FC236}">
                <a16:creationId xmlns:a16="http://schemas.microsoft.com/office/drawing/2014/main" id="{19C1EB21-AA73-9B45-4B25-48420D0D3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614079" y="2627005"/>
            <a:ext cx="3600450" cy="2700337"/>
          </a:xfrm>
          <a:prstGeom prst="rect">
            <a:avLst/>
          </a:prstGeom>
          <a:noFill/>
        </p:spPr>
      </p:pic>
      <p:pic>
        <p:nvPicPr>
          <p:cNvPr id="6" name="Picture 6">
            <a:extLst>
              <a:ext uri="{FF2B5EF4-FFF2-40B4-BE49-F238E27FC236}">
                <a16:creationId xmlns:a16="http://schemas.microsoft.com/office/drawing/2014/main" id="{F49C8A56-27A4-2E17-DAD5-33E2725B6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521400" y="2508039"/>
            <a:ext cx="3598862" cy="2698750"/>
          </a:xfrm>
          <a:prstGeom prst="rect">
            <a:avLst/>
          </a:prstGeom>
          <a:noFill/>
        </p:spPr>
      </p:pic>
    </p:spTree>
    <p:extLst>
      <p:ext uri="{BB962C8B-B14F-4D97-AF65-F5344CB8AC3E}">
        <p14:creationId xmlns:p14="http://schemas.microsoft.com/office/powerpoint/2010/main" val="4024122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22F1-8CA0-EA9D-C859-B8C182006E83}"/>
              </a:ext>
            </a:extLst>
          </p:cNvPr>
          <p:cNvSpPr>
            <a:spLocks noGrp="1"/>
          </p:cNvSpPr>
          <p:nvPr>
            <p:ph type="title"/>
          </p:nvPr>
        </p:nvSpPr>
        <p:spPr/>
        <p:txBody>
          <a:bodyPr/>
          <a:lstStyle/>
          <a:p>
            <a:r>
              <a:rPr lang="en-US" dirty="0"/>
              <a:t>Terminology - Continued</a:t>
            </a:r>
          </a:p>
        </p:txBody>
      </p:sp>
      <p:sp>
        <p:nvSpPr>
          <p:cNvPr id="3" name="Content Placeholder 2">
            <a:extLst>
              <a:ext uri="{FF2B5EF4-FFF2-40B4-BE49-F238E27FC236}">
                <a16:creationId xmlns:a16="http://schemas.microsoft.com/office/drawing/2014/main" id="{D8A33BBB-8A95-5328-E611-C14E9182D57C}"/>
              </a:ext>
            </a:extLst>
          </p:cNvPr>
          <p:cNvSpPr>
            <a:spLocks noGrp="1"/>
          </p:cNvSpPr>
          <p:nvPr>
            <p:ph idx="1"/>
          </p:nvPr>
        </p:nvSpPr>
        <p:spPr/>
        <p:txBody>
          <a:bodyPr/>
          <a:lstStyle/>
          <a:p>
            <a:r>
              <a:rPr lang="en-US" altLang="zh-TW" dirty="0"/>
              <a:t>Global optimum </a:t>
            </a:r>
            <a:r>
              <a:rPr lang="en-US" altLang="zh-TW" dirty="0" err="1"/>
              <a:t>v.s</a:t>
            </a:r>
            <a:r>
              <a:rPr lang="en-US" altLang="zh-TW" dirty="0"/>
              <a:t>. Local optimum</a:t>
            </a:r>
            <a:endParaRPr lang="en-US" dirty="0"/>
          </a:p>
        </p:txBody>
      </p:sp>
      <p:sp>
        <p:nvSpPr>
          <p:cNvPr id="4" name="Slide Number Placeholder 3">
            <a:extLst>
              <a:ext uri="{FF2B5EF4-FFF2-40B4-BE49-F238E27FC236}">
                <a16:creationId xmlns:a16="http://schemas.microsoft.com/office/drawing/2014/main" id="{5089FDC9-751E-4434-86B0-B0F7539AA373}"/>
              </a:ext>
            </a:extLst>
          </p:cNvPr>
          <p:cNvSpPr>
            <a:spLocks noGrp="1"/>
          </p:cNvSpPr>
          <p:nvPr>
            <p:ph type="sldNum" sz="quarter" idx="12"/>
          </p:nvPr>
        </p:nvSpPr>
        <p:spPr/>
        <p:txBody>
          <a:bodyPr/>
          <a:lstStyle/>
          <a:p>
            <a:fld id="{5FD5B158-82B0-4C87-A3EC-7455924DF160}" type="slidenum">
              <a:rPr lang="en-US" smtClean="0"/>
              <a:t>21</a:t>
            </a:fld>
            <a:endParaRPr lang="en-US"/>
          </a:p>
        </p:txBody>
      </p:sp>
      <p:graphicFrame>
        <p:nvGraphicFramePr>
          <p:cNvPr id="6" name="Object 4">
            <a:extLst>
              <a:ext uri="{FF2B5EF4-FFF2-40B4-BE49-F238E27FC236}">
                <a16:creationId xmlns:a16="http://schemas.microsoft.com/office/drawing/2014/main" id="{FA1EEC15-5CDD-A70D-F5E6-D4AFCA3FD3E7}"/>
              </a:ext>
            </a:extLst>
          </p:cNvPr>
          <p:cNvGraphicFramePr>
            <a:graphicFrameLocks noChangeAspect="1"/>
          </p:cNvGraphicFramePr>
          <p:nvPr>
            <p:extLst>
              <p:ext uri="{D42A27DB-BD31-4B8C-83A1-F6EECF244321}">
                <p14:modId xmlns:p14="http://schemas.microsoft.com/office/powerpoint/2010/main" val="167137509"/>
              </p:ext>
            </p:extLst>
          </p:nvPr>
        </p:nvGraphicFramePr>
        <p:xfrm>
          <a:off x="2498930" y="2242267"/>
          <a:ext cx="5327650" cy="3822700"/>
        </p:xfrm>
        <a:graphic>
          <a:graphicData uri="http://schemas.openxmlformats.org/presentationml/2006/ole">
            <mc:AlternateContent xmlns:mc="http://schemas.openxmlformats.org/markup-compatibility/2006">
              <mc:Choice xmlns:v="urn:schemas-microsoft-com:vml" Requires="v">
                <p:oleObj r:id="rId2" imgW="6166104" imgH="4421124" progId="Visio.Drawing.5">
                  <p:embed/>
                </p:oleObj>
              </mc:Choice>
              <mc:Fallback>
                <p:oleObj r:id="rId2" imgW="6166104" imgH="4421124" progId="Visio.Drawing.5">
                  <p:embed/>
                  <p:pic>
                    <p:nvPicPr>
                      <p:cNvPr id="10242" name="Object 4">
                        <a:extLst>
                          <a:ext uri="{FF2B5EF4-FFF2-40B4-BE49-F238E27FC236}">
                            <a16:creationId xmlns:a16="http://schemas.microsoft.com/office/drawing/2014/main" id="{BF02FED5-CA4C-3721-1C08-9EFC793A0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8930" y="2242267"/>
                        <a:ext cx="5327650" cy="3822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22482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2C16E-719C-49BF-CAEF-A44E6F030A6D}"/>
              </a:ext>
            </a:extLst>
          </p:cNvPr>
          <p:cNvSpPr>
            <a:spLocks noGrp="1"/>
          </p:cNvSpPr>
          <p:nvPr>
            <p:ph type="title"/>
          </p:nvPr>
        </p:nvSpPr>
        <p:spPr/>
        <p:txBody>
          <a:bodyPr/>
          <a:lstStyle/>
          <a:p>
            <a:r>
              <a:rPr lang="en-US" dirty="0"/>
              <a:t>Terminology - Continued</a:t>
            </a:r>
          </a:p>
        </p:txBody>
      </p:sp>
      <p:sp>
        <p:nvSpPr>
          <p:cNvPr id="3" name="Content Placeholder 2">
            <a:extLst>
              <a:ext uri="{FF2B5EF4-FFF2-40B4-BE49-F238E27FC236}">
                <a16:creationId xmlns:a16="http://schemas.microsoft.com/office/drawing/2014/main" id="{40B123C1-0E60-A681-1EA9-AA14128480DF}"/>
              </a:ext>
            </a:extLst>
          </p:cNvPr>
          <p:cNvSpPr>
            <a:spLocks noGrp="1"/>
          </p:cNvSpPr>
          <p:nvPr>
            <p:ph idx="1"/>
          </p:nvPr>
        </p:nvSpPr>
        <p:spPr/>
        <p:txBody>
          <a:bodyPr/>
          <a:lstStyle/>
          <a:p>
            <a:r>
              <a:rPr lang="en-US" altLang="zh-TW" sz="3600" dirty="0"/>
              <a:t>Convex </a:t>
            </a:r>
            <a:r>
              <a:rPr lang="en-US" altLang="zh-TW" sz="3600" dirty="0" err="1"/>
              <a:t>v.s</a:t>
            </a:r>
            <a:r>
              <a:rPr lang="en-US" altLang="zh-TW" sz="3600" dirty="0"/>
              <a:t>. Concave functions</a:t>
            </a:r>
          </a:p>
          <a:p>
            <a:pPr lvl="4"/>
            <a:r>
              <a:rPr lang="en-US" altLang="zh-TW" sz="2400" dirty="0"/>
              <a:t>A function </a:t>
            </a:r>
            <a:r>
              <a:rPr lang="en-US" altLang="zh-TW" sz="2400" dirty="0">
                <a:sym typeface="Symbol" panose="05050102010706020507" pitchFamily="18" charset="2"/>
              </a:rPr>
              <a:t></a:t>
            </a:r>
            <a:r>
              <a:rPr lang="en-US" altLang="zh-TW" sz="2400" dirty="0"/>
              <a:t>(x) is called </a:t>
            </a:r>
            <a:r>
              <a:rPr lang="en-US" altLang="zh-TW" sz="2400" u="sng" dirty="0"/>
              <a:t>convex</a:t>
            </a:r>
            <a:r>
              <a:rPr lang="en-US" altLang="zh-TW" sz="2400" dirty="0"/>
              <a:t> over the domain R if for all x1, x2</a:t>
            </a:r>
            <a:r>
              <a:rPr lang="en-US" altLang="zh-TW" sz="2400" dirty="0">
                <a:sym typeface="Symbol" panose="05050102010706020507" pitchFamily="18" charset="2"/>
              </a:rPr>
              <a:t></a:t>
            </a:r>
            <a:r>
              <a:rPr lang="en-US" altLang="zh-TW" sz="2400" dirty="0"/>
              <a:t>R, and 0&lt;</a:t>
            </a:r>
            <a:r>
              <a:rPr lang="en-US" altLang="zh-TW" sz="2400" dirty="0">
                <a:sym typeface="Symbol" panose="05050102010706020507" pitchFamily="18" charset="2"/>
              </a:rPr>
              <a:t></a:t>
            </a:r>
            <a:r>
              <a:rPr lang="en-US" altLang="zh-TW" sz="2400" dirty="0"/>
              <a:t>&lt;1, then  </a:t>
            </a:r>
          </a:p>
          <a:p>
            <a:pPr lvl="4"/>
            <a:endParaRPr lang="en-US" altLang="zh-TW" sz="2400" dirty="0"/>
          </a:p>
          <a:p>
            <a:pPr lvl="4"/>
            <a:endParaRPr lang="en-US" altLang="zh-TW" sz="2400" dirty="0"/>
          </a:p>
          <a:p>
            <a:pPr lvl="4"/>
            <a:endParaRPr lang="en-US" altLang="zh-TW" sz="2400" dirty="0"/>
          </a:p>
          <a:p>
            <a:pPr lvl="4"/>
            <a:r>
              <a:rPr lang="en-US" altLang="zh-TW" sz="2400" dirty="0"/>
              <a:t>If the inequality holds, the function is called strictly convex.  A concave function is a function that cannot have a value smaller than that obtained by a linear approximation. </a:t>
            </a:r>
          </a:p>
          <a:p>
            <a:endParaRPr lang="en-US" dirty="0"/>
          </a:p>
        </p:txBody>
      </p:sp>
      <p:sp>
        <p:nvSpPr>
          <p:cNvPr id="4" name="Slide Number Placeholder 3">
            <a:extLst>
              <a:ext uri="{FF2B5EF4-FFF2-40B4-BE49-F238E27FC236}">
                <a16:creationId xmlns:a16="http://schemas.microsoft.com/office/drawing/2014/main" id="{A0C743C7-9AB7-CEF8-9D55-86C6D8626F1F}"/>
              </a:ext>
            </a:extLst>
          </p:cNvPr>
          <p:cNvSpPr>
            <a:spLocks noGrp="1"/>
          </p:cNvSpPr>
          <p:nvPr>
            <p:ph type="sldNum" sz="quarter" idx="12"/>
          </p:nvPr>
        </p:nvSpPr>
        <p:spPr/>
        <p:txBody>
          <a:bodyPr/>
          <a:lstStyle/>
          <a:p>
            <a:fld id="{5FD5B158-82B0-4C87-A3EC-7455924DF160}" type="slidenum">
              <a:rPr lang="en-US" smtClean="0"/>
              <a:t>22</a:t>
            </a:fld>
            <a:endParaRPr lang="en-US"/>
          </a:p>
        </p:txBody>
      </p:sp>
      <p:graphicFrame>
        <p:nvGraphicFramePr>
          <p:cNvPr id="5" name="Object 4">
            <a:extLst>
              <a:ext uri="{FF2B5EF4-FFF2-40B4-BE49-F238E27FC236}">
                <a16:creationId xmlns:a16="http://schemas.microsoft.com/office/drawing/2014/main" id="{A174A8CB-A795-DC44-04C9-5270F5A7079A}"/>
              </a:ext>
            </a:extLst>
          </p:cNvPr>
          <p:cNvGraphicFramePr>
            <a:graphicFrameLocks noChangeAspect="1"/>
          </p:cNvGraphicFramePr>
          <p:nvPr>
            <p:extLst>
              <p:ext uri="{D42A27DB-BD31-4B8C-83A1-F6EECF244321}">
                <p14:modId xmlns:p14="http://schemas.microsoft.com/office/powerpoint/2010/main" val="2601973671"/>
              </p:ext>
            </p:extLst>
          </p:nvPr>
        </p:nvGraphicFramePr>
        <p:xfrm>
          <a:off x="2812230" y="3247814"/>
          <a:ext cx="5702300" cy="609600"/>
        </p:xfrm>
        <a:graphic>
          <a:graphicData uri="http://schemas.openxmlformats.org/presentationml/2006/ole">
            <mc:AlternateContent xmlns:mc="http://schemas.openxmlformats.org/markup-compatibility/2006">
              <mc:Choice xmlns:v="urn:schemas-microsoft-com:vml" Requires="v">
                <p:oleObj name="Equation" r:id="rId2" imgW="5701559" imgH="609633" progId="Equation.DSMT4">
                  <p:embed/>
                </p:oleObj>
              </mc:Choice>
              <mc:Fallback>
                <p:oleObj name="Equation" r:id="rId2" imgW="5701559" imgH="609633" progId="Equation.DSMT4">
                  <p:embed/>
                  <p:pic>
                    <p:nvPicPr>
                      <p:cNvPr id="0" name=""/>
                      <p:cNvPicPr/>
                      <p:nvPr/>
                    </p:nvPicPr>
                    <p:blipFill>
                      <a:blip r:embed="rId3"/>
                      <a:stretch>
                        <a:fillRect/>
                      </a:stretch>
                    </p:blipFill>
                    <p:spPr>
                      <a:xfrm>
                        <a:off x="2812230" y="3247814"/>
                        <a:ext cx="5702300" cy="609600"/>
                      </a:xfrm>
                      <a:prstGeom prst="rect">
                        <a:avLst/>
                      </a:prstGeom>
                    </p:spPr>
                  </p:pic>
                </p:oleObj>
              </mc:Fallback>
            </mc:AlternateContent>
          </a:graphicData>
        </a:graphic>
      </p:graphicFrame>
    </p:spTree>
    <p:extLst>
      <p:ext uri="{BB962C8B-B14F-4D97-AF65-F5344CB8AC3E}">
        <p14:creationId xmlns:p14="http://schemas.microsoft.com/office/powerpoint/2010/main" val="3306781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1FF79-B91C-79F0-22AE-8AC92319AD6F}"/>
              </a:ext>
            </a:extLst>
          </p:cNvPr>
          <p:cNvSpPr>
            <a:spLocks noGrp="1"/>
          </p:cNvSpPr>
          <p:nvPr>
            <p:ph type="title"/>
          </p:nvPr>
        </p:nvSpPr>
        <p:spPr/>
        <p:txBody>
          <a:bodyPr/>
          <a:lstStyle/>
          <a:p>
            <a:r>
              <a:rPr lang="en-US" dirty="0"/>
              <a:t>Terminology - Continued</a:t>
            </a:r>
          </a:p>
        </p:txBody>
      </p:sp>
      <p:sp>
        <p:nvSpPr>
          <p:cNvPr id="3" name="Content Placeholder 2">
            <a:extLst>
              <a:ext uri="{FF2B5EF4-FFF2-40B4-BE49-F238E27FC236}">
                <a16:creationId xmlns:a16="http://schemas.microsoft.com/office/drawing/2014/main" id="{A2FC0A50-BE41-FEC9-A75C-822082596B4D}"/>
              </a:ext>
            </a:extLst>
          </p:cNvPr>
          <p:cNvSpPr>
            <a:spLocks noGrp="1"/>
          </p:cNvSpPr>
          <p:nvPr>
            <p:ph idx="1"/>
          </p:nvPr>
        </p:nvSpPr>
        <p:spPr/>
        <p:txBody>
          <a:bodyPr/>
          <a:lstStyle/>
          <a:p>
            <a:r>
              <a:rPr lang="en-US" altLang="zh-TW" sz="3200" dirty="0"/>
              <a:t> Unimodal function</a:t>
            </a:r>
          </a:p>
          <a:p>
            <a:pPr lvl="4"/>
            <a:r>
              <a:rPr lang="en-US" altLang="zh-TW" sz="2000" dirty="0"/>
              <a:t>If the function increases up to a maximum then decreases for all other values, it is called a unimodal function </a:t>
            </a:r>
          </a:p>
          <a:p>
            <a:r>
              <a:rPr lang="en-US" altLang="zh-TW" sz="3200" dirty="0"/>
              <a:t> Gradient and Hessian of a function </a:t>
            </a:r>
          </a:p>
          <a:p>
            <a:pPr lvl="4"/>
            <a:r>
              <a:rPr lang="en-US" altLang="zh-TW" sz="2000" dirty="0"/>
              <a:t>Gradient of a function </a:t>
            </a:r>
            <a:r>
              <a:rPr lang="en-US" altLang="zh-TW" sz="2000" i="1" dirty="0"/>
              <a:t>f(</a:t>
            </a:r>
            <a:r>
              <a:rPr lang="en-US" altLang="zh-TW" sz="2000" b="1" i="1" dirty="0"/>
              <a:t>x</a:t>
            </a:r>
            <a:r>
              <a:rPr lang="en-US" altLang="zh-TW" sz="2000" i="1" dirty="0"/>
              <a:t>)</a:t>
            </a:r>
            <a:r>
              <a:rPr lang="en-US" altLang="zh-TW" sz="2000" dirty="0"/>
              <a:t> is defined by a column vector of the first partial derivatives of </a:t>
            </a:r>
            <a:r>
              <a:rPr lang="en-US" altLang="zh-TW" sz="2000" i="1" dirty="0"/>
              <a:t>f(</a:t>
            </a:r>
            <a:r>
              <a:rPr lang="en-US" altLang="zh-TW" sz="2000" b="1" i="1" dirty="0"/>
              <a:t>x</a:t>
            </a:r>
            <a:r>
              <a:rPr lang="en-US" altLang="zh-TW" sz="2000" i="1" dirty="0"/>
              <a:t>)</a:t>
            </a:r>
            <a:r>
              <a:rPr lang="en-US" altLang="zh-TW" sz="2000" dirty="0"/>
              <a:t> with respect to each variables </a:t>
            </a:r>
            <a:r>
              <a:rPr lang="en-US" altLang="zh-TW" sz="2000" i="1" dirty="0"/>
              <a:t>x1</a:t>
            </a:r>
            <a:r>
              <a:rPr lang="en-US" altLang="zh-TW" sz="2000" dirty="0"/>
              <a:t> to </a:t>
            </a:r>
            <a:r>
              <a:rPr lang="en-US" altLang="zh-TW" sz="2000" i="1" dirty="0" err="1"/>
              <a:t>xn</a:t>
            </a:r>
            <a:r>
              <a:rPr lang="en-US" altLang="zh-TW" sz="2000" dirty="0"/>
              <a:t> evaluated at some </a:t>
            </a:r>
            <a:r>
              <a:rPr lang="en-US" altLang="zh-TW" sz="2000" b="1" i="1" dirty="0"/>
              <a:t>x</a:t>
            </a:r>
            <a:endParaRPr lang="en-US" altLang="zh-TW" sz="2000" dirty="0"/>
          </a:p>
          <a:p>
            <a:pPr lvl="4"/>
            <a:r>
              <a:rPr lang="en-US" altLang="zh-TW" sz="2000" dirty="0"/>
              <a:t>Hessian matrix of </a:t>
            </a:r>
            <a:r>
              <a:rPr lang="en-US" altLang="zh-TW" sz="2000" i="1" dirty="0"/>
              <a:t>f(</a:t>
            </a:r>
            <a:r>
              <a:rPr lang="en-US" altLang="zh-TW" sz="2000" b="1" i="1" dirty="0"/>
              <a:t>x</a:t>
            </a:r>
            <a:r>
              <a:rPr lang="en-US" altLang="zh-TW" sz="2000" i="1" dirty="0"/>
              <a:t>)</a:t>
            </a:r>
            <a:r>
              <a:rPr lang="en-US" altLang="zh-TW" sz="2000" dirty="0"/>
              <a:t> is defined as the </a:t>
            </a:r>
            <a:r>
              <a:rPr lang="en-US" altLang="zh-TW" sz="2000" u="sng" dirty="0"/>
              <a:t>symmetric square</a:t>
            </a:r>
            <a:r>
              <a:rPr lang="en-US" altLang="zh-TW" sz="2000" dirty="0"/>
              <a:t> matrix of second partial derivatives </a:t>
            </a:r>
          </a:p>
          <a:p>
            <a:endParaRPr lang="en-US" dirty="0"/>
          </a:p>
        </p:txBody>
      </p:sp>
      <p:sp>
        <p:nvSpPr>
          <p:cNvPr id="4" name="Slide Number Placeholder 3">
            <a:extLst>
              <a:ext uri="{FF2B5EF4-FFF2-40B4-BE49-F238E27FC236}">
                <a16:creationId xmlns:a16="http://schemas.microsoft.com/office/drawing/2014/main" id="{796E046C-F9DB-5007-9469-24027701AFE9}"/>
              </a:ext>
            </a:extLst>
          </p:cNvPr>
          <p:cNvSpPr>
            <a:spLocks noGrp="1"/>
          </p:cNvSpPr>
          <p:nvPr>
            <p:ph type="sldNum" sz="quarter" idx="12"/>
          </p:nvPr>
        </p:nvSpPr>
        <p:spPr/>
        <p:txBody>
          <a:bodyPr/>
          <a:lstStyle/>
          <a:p>
            <a:fld id="{5FD5B158-82B0-4C87-A3EC-7455924DF160}" type="slidenum">
              <a:rPr lang="en-US" smtClean="0"/>
              <a:t>23</a:t>
            </a:fld>
            <a:endParaRPr lang="en-US"/>
          </a:p>
        </p:txBody>
      </p:sp>
    </p:spTree>
    <p:extLst>
      <p:ext uri="{BB962C8B-B14F-4D97-AF65-F5344CB8AC3E}">
        <p14:creationId xmlns:p14="http://schemas.microsoft.com/office/powerpoint/2010/main" val="813336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CC23B-B783-B71E-B058-1BB869F9AB8C}"/>
              </a:ext>
            </a:extLst>
          </p:cNvPr>
          <p:cNvSpPr>
            <a:spLocks noGrp="1"/>
          </p:cNvSpPr>
          <p:nvPr>
            <p:ph type="title"/>
          </p:nvPr>
        </p:nvSpPr>
        <p:spPr/>
        <p:txBody>
          <a:bodyPr/>
          <a:lstStyle/>
          <a:p>
            <a:r>
              <a:rPr lang="en-US" dirty="0"/>
              <a:t>Terminology - Continued</a:t>
            </a:r>
          </a:p>
        </p:txBody>
      </p:sp>
      <p:sp>
        <p:nvSpPr>
          <p:cNvPr id="3" name="Content Placeholder 2">
            <a:extLst>
              <a:ext uri="{FF2B5EF4-FFF2-40B4-BE49-F238E27FC236}">
                <a16:creationId xmlns:a16="http://schemas.microsoft.com/office/drawing/2014/main" id="{4ED8E38A-FE38-65C6-0E0E-3BF4CDB97506}"/>
              </a:ext>
            </a:extLst>
          </p:cNvPr>
          <p:cNvSpPr>
            <a:spLocks noGrp="1"/>
          </p:cNvSpPr>
          <p:nvPr>
            <p:ph idx="1"/>
          </p:nvPr>
        </p:nvSpPr>
        <p:spPr/>
        <p:txBody>
          <a:bodyPr>
            <a:normAutofit/>
          </a:bodyPr>
          <a:lstStyle/>
          <a:p>
            <a:r>
              <a:rPr lang="en-US" altLang="zh-TW" sz="3200" dirty="0"/>
              <a:t>Feasible Regions-  </a:t>
            </a:r>
          </a:p>
          <a:p>
            <a:pPr lvl="4"/>
            <a:r>
              <a:rPr lang="en-US" altLang="zh-TW" sz="2000" dirty="0"/>
              <a:t>Region of search.</a:t>
            </a:r>
          </a:p>
          <a:p>
            <a:pPr lvl="4"/>
            <a:r>
              <a:rPr lang="en-US" altLang="zh-TW" sz="2000" dirty="0"/>
              <a:t>The region bounded by the inequality and equality constraints. </a:t>
            </a:r>
          </a:p>
          <a:p>
            <a:r>
              <a:rPr lang="en-US" altLang="zh-TW" sz="3200" dirty="0"/>
              <a:t> Convex region of search (not convex function):  </a:t>
            </a:r>
          </a:p>
          <a:p>
            <a:pPr lvl="4"/>
            <a:r>
              <a:rPr lang="en-US" altLang="zh-TW" sz="2000" dirty="0"/>
              <a:t>A convex region is one region such that a line joining any two points lying in the region. </a:t>
            </a:r>
          </a:p>
          <a:p>
            <a:endParaRPr lang="en-US" sz="3200" dirty="0"/>
          </a:p>
        </p:txBody>
      </p:sp>
      <p:sp>
        <p:nvSpPr>
          <p:cNvPr id="4" name="Slide Number Placeholder 3">
            <a:extLst>
              <a:ext uri="{FF2B5EF4-FFF2-40B4-BE49-F238E27FC236}">
                <a16:creationId xmlns:a16="http://schemas.microsoft.com/office/drawing/2014/main" id="{805691C9-38C5-C94C-479C-2D8D1BF360AF}"/>
              </a:ext>
            </a:extLst>
          </p:cNvPr>
          <p:cNvSpPr>
            <a:spLocks noGrp="1"/>
          </p:cNvSpPr>
          <p:nvPr>
            <p:ph type="sldNum" sz="quarter" idx="12"/>
          </p:nvPr>
        </p:nvSpPr>
        <p:spPr/>
        <p:txBody>
          <a:bodyPr/>
          <a:lstStyle/>
          <a:p>
            <a:fld id="{5FD5B158-82B0-4C87-A3EC-7455924DF160}" type="slidenum">
              <a:rPr lang="en-US" smtClean="0"/>
              <a:t>24</a:t>
            </a:fld>
            <a:endParaRPr lang="en-US"/>
          </a:p>
        </p:txBody>
      </p:sp>
    </p:spTree>
    <p:extLst>
      <p:ext uri="{BB962C8B-B14F-4D97-AF65-F5344CB8AC3E}">
        <p14:creationId xmlns:p14="http://schemas.microsoft.com/office/powerpoint/2010/main" val="1007544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7D15FBD-13DF-08FA-AA1F-163522D55F75}"/>
              </a:ext>
            </a:extLst>
          </p:cNvPr>
          <p:cNvSpPr>
            <a:spLocks noGrp="1"/>
          </p:cNvSpPr>
          <p:nvPr>
            <p:ph type="title"/>
          </p:nvPr>
        </p:nvSpPr>
        <p:spPr/>
        <p:txBody>
          <a:bodyPr/>
          <a:lstStyle/>
          <a:p>
            <a:r>
              <a:rPr lang="en-US"/>
              <a:t>Thank you</a:t>
            </a:r>
          </a:p>
        </p:txBody>
      </p:sp>
      <p:sp>
        <p:nvSpPr>
          <p:cNvPr id="11" name="Text Placeholder 10">
            <a:extLst>
              <a:ext uri="{FF2B5EF4-FFF2-40B4-BE49-F238E27FC236}">
                <a16:creationId xmlns:a16="http://schemas.microsoft.com/office/drawing/2014/main" id="{45FCC0FA-ABD6-904A-17C7-5616A02B81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9D834F-E569-4932-36FB-6D1AB6011426}"/>
              </a:ext>
            </a:extLst>
          </p:cNvPr>
          <p:cNvSpPr>
            <a:spLocks noGrp="1"/>
          </p:cNvSpPr>
          <p:nvPr>
            <p:ph type="sldNum" sz="quarter" idx="12"/>
          </p:nvPr>
        </p:nvSpPr>
        <p:spPr/>
        <p:txBody>
          <a:bodyPr/>
          <a:lstStyle/>
          <a:p>
            <a:fld id="{5FD5B158-82B0-4C87-A3EC-7455924DF160}" type="slidenum">
              <a:rPr lang="en-US" smtClean="0"/>
              <a:t>25</a:t>
            </a:fld>
            <a:endParaRPr lang="en-US"/>
          </a:p>
        </p:txBody>
      </p:sp>
    </p:spTree>
    <p:extLst>
      <p:ext uri="{BB962C8B-B14F-4D97-AF65-F5344CB8AC3E}">
        <p14:creationId xmlns:p14="http://schemas.microsoft.com/office/powerpoint/2010/main" val="2082412914"/>
      </p:ext>
    </p:extLst>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126</TotalTime>
  <Words>1337</Words>
  <Application>Microsoft Office PowerPoint</Application>
  <PresentationFormat>Widescreen</PresentationFormat>
  <Paragraphs>124</Paragraphs>
  <Slides>25</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25</vt:i4>
      </vt:variant>
    </vt:vector>
  </HeadingPairs>
  <TitlesOfParts>
    <vt:vector size="34" baseType="lpstr">
      <vt:lpstr>Aptos</vt:lpstr>
      <vt:lpstr>Calibri</vt:lpstr>
      <vt:lpstr>Calibri Light</vt:lpstr>
      <vt:lpstr>Symbol</vt:lpstr>
      <vt:lpstr>Times New Roman</vt:lpstr>
      <vt:lpstr>Wingdings</vt:lpstr>
      <vt:lpstr>Retrospect</vt:lpstr>
      <vt:lpstr>MathType 7.0 Equation</vt:lpstr>
      <vt:lpstr>Visio.Drawing.5</vt:lpstr>
      <vt:lpstr>CHE 0426  Introduction to Optimization</vt:lpstr>
      <vt:lpstr>Why optimized? </vt:lpstr>
      <vt:lpstr>Essential features of optimization problem </vt:lpstr>
      <vt:lpstr>Essential features of optimization problem- Continued</vt:lpstr>
      <vt:lpstr>Problem Statements </vt:lpstr>
      <vt:lpstr>Examples- An Inspector Problem (Linear Programming): </vt:lpstr>
      <vt:lpstr>Problem Formulation</vt:lpstr>
      <vt:lpstr>The Graphical Solution</vt:lpstr>
      <vt:lpstr>Example – optimal pipe diameter</vt:lpstr>
      <vt:lpstr>Python Code</vt:lpstr>
      <vt:lpstr>Example - A Chemical Reactor Design Problem </vt:lpstr>
      <vt:lpstr>Example - A Chemical Reactor Design Problem </vt:lpstr>
      <vt:lpstr>Special Types of Optimization problems </vt:lpstr>
      <vt:lpstr>Special Types of Optimization problems </vt:lpstr>
      <vt:lpstr>Special Types of Optimization problems </vt:lpstr>
      <vt:lpstr>Special Types of Optimization problems </vt:lpstr>
      <vt:lpstr>Special Types of Optimization problems </vt:lpstr>
      <vt:lpstr>Special Types of Optimization problems </vt:lpstr>
      <vt:lpstr>The Iterative Optimization Procedure –  A Basic Idea</vt:lpstr>
      <vt:lpstr>Terminology</vt:lpstr>
      <vt:lpstr>Terminology - Continued</vt:lpstr>
      <vt:lpstr>Terminology - Continued</vt:lpstr>
      <vt:lpstr>Terminology - Continued</vt:lpstr>
      <vt:lpstr>Terminology - Continued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Rommel Galvan</dc:creator>
  <cp:lastModifiedBy>Rommel Galvan</cp:lastModifiedBy>
  <cp:revision>28</cp:revision>
  <dcterms:created xsi:type="dcterms:W3CDTF">2026-01-11T07:09:22Z</dcterms:created>
  <dcterms:modified xsi:type="dcterms:W3CDTF">2026-01-13T10:41:39Z</dcterms:modified>
</cp:coreProperties>
</file>